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326" r:id="rId2"/>
    <p:sldId id="328" r:id="rId3"/>
    <p:sldId id="327" r:id="rId4"/>
    <p:sldId id="324" r:id="rId5"/>
    <p:sldId id="286" r:id="rId6"/>
    <p:sldId id="306" r:id="rId7"/>
    <p:sldId id="320" r:id="rId8"/>
    <p:sldId id="310" r:id="rId9"/>
    <p:sldId id="291" r:id="rId10"/>
    <p:sldId id="311" r:id="rId11"/>
    <p:sldId id="312" r:id="rId12"/>
    <p:sldId id="313" r:id="rId13"/>
    <p:sldId id="335" r:id="rId14"/>
    <p:sldId id="322" r:id="rId15"/>
    <p:sldId id="330" r:id="rId16"/>
    <p:sldId id="331" r:id="rId17"/>
    <p:sldId id="332" r:id="rId18"/>
    <p:sldId id="315" r:id="rId19"/>
    <p:sldId id="314" r:id="rId20"/>
    <p:sldId id="316" r:id="rId21"/>
    <p:sldId id="257" r:id="rId22"/>
    <p:sldId id="259" r:id="rId23"/>
    <p:sldId id="258" r:id="rId24"/>
    <p:sldId id="319" r:id="rId25"/>
    <p:sldId id="333" r:id="rId26"/>
    <p:sldId id="334" r:id="rId27"/>
    <p:sldId id="336" r:id="rId28"/>
    <p:sldId id="338" r:id="rId29"/>
    <p:sldId id="339" r:id="rId30"/>
    <p:sldId id="340" r:id="rId31"/>
    <p:sldId id="341" r:id="rId32"/>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56"/>
    <p:restoredTop sz="94664"/>
  </p:normalViewPr>
  <p:slideViewPr>
    <p:cSldViewPr snapToGrid="0">
      <p:cViewPr>
        <p:scale>
          <a:sx n="137" d="100"/>
          <a:sy n="137" d="100"/>
        </p:scale>
        <p:origin x="1448"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3F6AEA-44C2-D340-8C49-1DD8CC1E303A}" type="datetimeFigureOut">
              <a:rPr lang="en-FI" smtClean="0"/>
              <a:t>19.8.2026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A1FEB-85BF-B840-AB21-6E218788FCE3}" type="slidenum">
              <a:rPr lang="en-FI" smtClean="0"/>
              <a:t>‹#›</a:t>
            </a:fld>
            <a:endParaRPr lang="en-FI"/>
          </a:p>
        </p:txBody>
      </p:sp>
    </p:spTree>
    <p:extLst>
      <p:ext uri="{BB962C8B-B14F-4D97-AF65-F5344CB8AC3E}">
        <p14:creationId xmlns:p14="http://schemas.microsoft.com/office/powerpoint/2010/main" val="285210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A81A1FEB-85BF-B840-AB21-6E218788FCE3}" type="slidenum">
              <a:rPr lang="en-FI" smtClean="0"/>
              <a:t>3</a:t>
            </a:fld>
            <a:endParaRPr lang="en-FI"/>
          </a:p>
        </p:txBody>
      </p:sp>
    </p:spTree>
    <p:extLst>
      <p:ext uri="{BB962C8B-B14F-4D97-AF65-F5344CB8AC3E}">
        <p14:creationId xmlns:p14="http://schemas.microsoft.com/office/powerpoint/2010/main" val="3469675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A81A1FEB-85BF-B840-AB21-6E218788FCE3}" type="slidenum">
              <a:rPr lang="en-FI" smtClean="0"/>
              <a:t>4</a:t>
            </a:fld>
            <a:endParaRPr lang="en-FI"/>
          </a:p>
        </p:txBody>
      </p:sp>
    </p:spTree>
    <p:extLst>
      <p:ext uri="{BB962C8B-B14F-4D97-AF65-F5344CB8AC3E}">
        <p14:creationId xmlns:p14="http://schemas.microsoft.com/office/powerpoint/2010/main" val="813674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exception when you are interested to study the society including its biases, c.f. Geometry of culture</a:t>
            </a:r>
            <a:endParaRPr lang="en-FI" dirty="0"/>
          </a:p>
        </p:txBody>
      </p:sp>
      <p:sp>
        <p:nvSpPr>
          <p:cNvPr id="4" name="Slide Number Placeholder 3"/>
          <p:cNvSpPr>
            <a:spLocks noGrp="1"/>
          </p:cNvSpPr>
          <p:nvPr>
            <p:ph type="sldNum" sz="quarter" idx="5"/>
          </p:nvPr>
        </p:nvSpPr>
        <p:spPr/>
        <p:txBody>
          <a:bodyPr/>
          <a:lstStyle/>
          <a:p>
            <a:fld id="{A3CFB985-42DD-EA48-85EE-A8A9F4C2AD8F}" type="slidenum">
              <a:rPr lang="en-FI" smtClean="0"/>
              <a:t>5</a:t>
            </a:fld>
            <a:endParaRPr lang="en-FI"/>
          </a:p>
        </p:txBody>
      </p:sp>
    </p:spTree>
    <p:extLst>
      <p:ext uri="{BB962C8B-B14F-4D97-AF65-F5344CB8AC3E}">
        <p14:creationId xmlns:p14="http://schemas.microsoft.com/office/powerpoint/2010/main" val="3687067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exception when you are interested to study the society including its biases, c.f. Geometry of culture</a:t>
            </a:r>
            <a:endParaRPr lang="en-FI" dirty="0"/>
          </a:p>
        </p:txBody>
      </p:sp>
      <p:sp>
        <p:nvSpPr>
          <p:cNvPr id="4" name="Slide Number Placeholder 3"/>
          <p:cNvSpPr>
            <a:spLocks noGrp="1"/>
          </p:cNvSpPr>
          <p:nvPr>
            <p:ph type="sldNum" sz="quarter" idx="5"/>
          </p:nvPr>
        </p:nvSpPr>
        <p:spPr/>
        <p:txBody>
          <a:bodyPr/>
          <a:lstStyle/>
          <a:p>
            <a:fld id="{A3CFB985-42DD-EA48-85EE-A8A9F4C2AD8F}" type="slidenum">
              <a:rPr lang="en-FI" smtClean="0"/>
              <a:t>6</a:t>
            </a:fld>
            <a:endParaRPr lang="en-FI"/>
          </a:p>
        </p:txBody>
      </p:sp>
    </p:spTree>
    <p:extLst>
      <p:ext uri="{BB962C8B-B14F-4D97-AF65-F5344CB8AC3E}">
        <p14:creationId xmlns:p14="http://schemas.microsoft.com/office/powerpoint/2010/main" val="1092137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exception when you are interested to study the society including its biases, c.f. Geometry of culture</a:t>
            </a:r>
            <a:endParaRPr lang="en-FI" dirty="0"/>
          </a:p>
        </p:txBody>
      </p:sp>
      <p:sp>
        <p:nvSpPr>
          <p:cNvPr id="4" name="Slide Number Placeholder 3"/>
          <p:cNvSpPr>
            <a:spLocks noGrp="1"/>
          </p:cNvSpPr>
          <p:nvPr>
            <p:ph type="sldNum" sz="quarter" idx="5"/>
          </p:nvPr>
        </p:nvSpPr>
        <p:spPr/>
        <p:txBody>
          <a:bodyPr/>
          <a:lstStyle/>
          <a:p>
            <a:fld id="{A3CFB985-42DD-EA48-85EE-A8A9F4C2AD8F}" type="slidenum">
              <a:rPr lang="en-FI" smtClean="0"/>
              <a:t>8</a:t>
            </a:fld>
            <a:endParaRPr lang="en-FI"/>
          </a:p>
        </p:txBody>
      </p:sp>
    </p:spTree>
    <p:extLst>
      <p:ext uri="{BB962C8B-B14F-4D97-AF65-F5344CB8AC3E}">
        <p14:creationId xmlns:p14="http://schemas.microsoft.com/office/powerpoint/2010/main" val="819994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9BB8D49B-218B-D54C-B733-9083A48D5003}" type="slidenum">
              <a:rPr lang="en-FI" smtClean="0"/>
              <a:t>10</a:t>
            </a:fld>
            <a:endParaRPr lang="en-FI"/>
          </a:p>
        </p:txBody>
      </p:sp>
    </p:spTree>
    <p:extLst>
      <p:ext uri="{BB962C8B-B14F-4D97-AF65-F5344CB8AC3E}">
        <p14:creationId xmlns:p14="http://schemas.microsoft.com/office/powerpoint/2010/main" val="2732496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6EA84-3A96-D90F-79EC-5812C6F14D7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I"/>
          </a:p>
        </p:txBody>
      </p:sp>
      <p:sp>
        <p:nvSpPr>
          <p:cNvPr id="3" name="Subtitle 2">
            <a:extLst>
              <a:ext uri="{FF2B5EF4-FFF2-40B4-BE49-F238E27FC236}">
                <a16:creationId xmlns:a16="http://schemas.microsoft.com/office/drawing/2014/main" id="{745444ED-5B5D-4D8B-58AB-24A559C62B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I"/>
          </a:p>
        </p:txBody>
      </p:sp>
      <p:sp>
        <p:nvSpPr>
          <p:cNvPr id="4" name="Date Placeholder 3">
            <a:extLst>
              <a:ext uri="{FF2B5EF4-FFF2-40B4-BE49-F238E27FC236}">
                <a16:creationId xmlns:a16="http://schemas.microsoft.com/office/drawing/2014/main" id="{BDB0DA51-7935-9C29-B040-0232B05CBA16}"/>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9FE0D465-D1CB-815B-206B-DDD52058F46D}"/>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A1FC6B43-D1A7-B1CA-E02F-2208B09BD4B5}"/>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704853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EB9C-047F-8300-8C42-4101F11D8286}"/>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EB8584BA-208F-9F51-9BFD-657C679FFA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F09B6414-6408-C94F-3549-D37CE95309EE}"/>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C00CB600-863A-6065-C782-4B03C8E99DA2}"/>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67DA731D-182F-25F1-0766-8A954EBD3AB7}"/>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2030554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EA806-A467-04ED-FB05-8E4FEF1103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I"/>
          </a:p>
        </p:txBody>
      </p:sp>
      <p:sp>
        <p:nvSpPr>
          <p:cNvPr id="3" name="Text Placeholder 2">
            <a:extLst>
              <a:ext uri="{FF2B5EF4-FFF2-40B4-BE49-F238E27FC236}">
                <a16:creationId xmlns:a16="http://schemas.microsoft.com/office/drawing/2014/main" id="{9232F905-3110-4B66-EC90-52D03E70C7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BCC229-896F-AB35-5591-4CF4A390AB38}"/>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6008C6FE-AC8A-7DAC-25C8-CEEEE611F360}"/>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F91FECA1-93A5-816A-0CFB-6FEAA5B38E0F}"/>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1903042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5EBB9-E7D8-AF52-0425-A918DF58C0DE}"/>
              </a:ext>
            </a:extLst>
          </p:cNvPr>
          <p:cNvSpPr>
            <a:spLocks noGrp="1"/>
          </p:cNvSpPr>
          <p:nvPr>
            <p:ph type="title"/>
          </p:nvPr>
        </p:nvSpPr>
        <p:spPr/>
        <p:txBody>
          <a:bodyPr/>
          <a:lstStyle/>
          <a:p>
            <a:r>
              <a:rPr lang="en-GB"/>
              <a:t>Click to edit Master title style</a:t>
            </a:r>
            <a:endParaRPr lang="en-FI"/>
          </a:p>
        </p:txBody>
      </p:sp>
      <p:sp>
        <p:nvSpPr>
          <p:cNvPr id="3" name="Content Placeholder 2">
            <a:extLst>
              <a:ext uri="{FF2B5EF4-FFF2-40B4-BE49-F238E27FC236}">
                <a16:creationId xmlns:a16="http://schemas.microsoft.com/office/drawing/2014/main" id="{A0AAD906-7A4C-466E-AFB7-1ADACED116B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Content Placeholder 3">
            <a:extLst>
              <a:ext uri="{FF2B5EF4-FFF2-40B4-BE49-F238E27FC236}">
                <a16:creationId xmlns:a16="http://schemas.microsoft.com/office/drawing/2014/main" id="{B5D5CD12-F75E-F4E2-2CAA-95D8E38326F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Date Placeholder 4">
            <a:extLst>
              <a:ext uri="{FF2B5EF4-FFF2-40B4-BE49-F238E27FC236}">
                <a16:creationId xmlns:a16="http://schemas.microsoft.com/office/drawing/2014/main" id="{9F6E9B67-1EBF-672E-9C8C-CB37C6085E5C}"/>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6" name="Footer Placeholder 5">
            <a:extLst>
              <a:ext uri="{FF2B5EF4-FFF2-40B4-BE49-F238E27FC236}">
                <a16:creationId xmlns:a16="http://schemas.microsoft.com/office/drawing/2014/main" id="{8E93D09F-A2C3-3720-C437-59B3FC2F82E2}"/>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00273F79-27FA-DD3A-1FED-1DDA89E68F45}"/>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138780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2856B-1DB9-A6F5-2B85-F342719D6C4C}"/>
              </a:ext>
            </a:extLst>
          </p:cNvPr>
          <p:cNvSpPr>
            <a:spLocks noGrp="1"/>
          </p:cNvSpPr>
          <p:nvPr>
            <p:ph type="title"/>
          </p:nvPr>
        </p:nvSpPr>
        <p:spPr>
          <a:xfrm>
            <a:off x="839788" y="365125"/>
            <a:ext cx="10515600" cy="1325563"/>
          </a:xfrm>
        </p:spPr>
        <p:txBody>
          <a:bodyPr/>
          <a:lstStyle/>
          <a:p>
            <a:r>
              <a:rPr lang="en-GB"/>
              <a:t>Click to edit Master title style</a:t>
            </a:r>
            <a:endParaRPr lang="en-FI"/>
          </a:p>
        </p:txBody>
      </p:sp>
      <p:sp>
        <p:nvSpPr>
          <p:cNvPr id="3" name="Text Placeholder 2">
            <a:extLst>
              <a:ext uri="{FF2B5EF4-FFF2-40B4-BE49-F238E27FC236}">
                <a16:creationId xmlns:a16="http://schemas.microsoft.com/office/drawing/2014/main" id="{067F1F44-6A6D-DDAB-90D7-54433689D5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985297F-90F4-052F-59A3-19B04EABF6B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5" name="Text Placeholder 4">
            <a:extLst>
              <a:ext uri="{FF2B5EF4-FFF2-40B4-BE49-F238E27FC236}">
                <a16:creationId xmlns:a16="http://schemas.microsoft.com/office/drawing/2014/main" id="{0DB29A88-661D-0A0F-E5C0-0E6B569757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0BA77D3-CC3D-66E0-753E-0A97CA30F6F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7" name="Date Placeholder 6">
            <a:extLst>
              <a:ext uri="{FF2B5EF4-FFF2-40B4-BE49-F238E27FC236}">
                <a16:creationId xmlns:a16="http://schemas.microsoft.com/office/drawing/2014/main" id="{5C8B042C-70E7-523B-F493-AE234D9893F5}"/>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8" name="Footer Placeholder 7">
            <a:extLst>
              <a:ext uri="{FF2B5EF4-FFF2-40B4-BE49-F238E27FC236}">
                <a16:creationId xmlns:a16="http://schemas.microsoft.com/office/drawing/2014/main" id="{6CAB1BF7-7554-6532-3E10-EE26EFEC8BAC}"/>
              </a:ext>
            </a:extLst>
          </p:cNvPr>
          <p:cNvSpPr>
            <a:spLocks noGrp="1"/>
          </p:cNvSpPr>
          <p:nvPr>
            <p:ph type="ftr" sz="quarter" idx="11"/>
          </p:nvPr>
        </p:nvSpPr>
        <p:spPr/>
        <p:txBody>
          <a:bodyPr/>
          <a:lstStyle/>
          <a:p>
            <a:endParaRPr lang="en-FI"/>
          </a:p>
        </p:txBody>
      </p:sp>
      <p:sp>
        <p:nvSpPr>
          <p:cNvPr id="9" name="Slide Number Placeholder 8">
            <a:extLst>
              <a:ext uri="{FF2B5EF4-FFF2-40B4-BE49-F238E27FC236}">
                <a16:creationId xmlns:a16="http://schemas.microsoft.com/office/drawing/2014/main" id="{530ECC35-973B-27A1-B6FA-46AEBB22F52D}"/>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208021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B4E46-9CCE-E994-51A2-AB6FB4E914B0}"/>
              </a:ext>
            </a:extLst>
          </p:cNvPr>
          <p:cNvSpPr>
            <a:spLocks noGrp="1"/>
          </p:cNvSpPr>
          <p:nvPr>
            <p:ph type="title"/>
          </p:nvPr>
        </p:nvSpPr>
        <p:spPr/>
        <p:txBody>
          <a:bodyPr/>
          <a:lstStyle/>
          <a:p>
            <a:r>
              <a:rPr lang="en-GB"/>
              <a:t>Click to edit Master title style</a:t>
            </a:r>
            <a:endParaRPr lang="en-FI"/>
          </a:p>
        </p:txBody>
      </p:sp>
      <p:sp>
        <p:nvSpPr>
          <p:cNvPr id="3" name="Date Placeholder 2">
            <a:extLst>
              <a:ext uri="{FF2B5EF4-FFF2-40B4-BE49-F238E27FC236}">
                <a16:creationId xmlns:a16="http://schemas.microsoft.com/office/drawing/2014/main" id="{FE4DE509-9FFD-92B9-AA5D-E44D53E837A1}"/>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4" name="Footer Placeholder 3">
            <a:extLst>
              <a:ext uri="{FF2B5EF4-FFF2-40B4-BE49-F238E27FC236}">
                <a16:creationId xmlns:a16="http://schemas.microsoft.com/office/drawing/2014/main" id="{6D147301-EEBB-3D9D-2420-9300265CE67A}"/>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78EE2A63-97F9-37AF-70D7-1573C1EC2935}"/>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2377619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D8DCE3-375E-2687-0AD7-ED64B39A1884}"/>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3" name="Footer Placeholder 2">
            <a:extLst>
              <a:ext uri="{FF2B5EF4-FFF2-40B4-BE49-F238E27FC236}">
                <a16:creationId xmlns:a16="http://schemas.microsoft.com/office/drawing/2014/main" id="{77412764-D966-6823-1796-FB8C5ECC7E9E}"/>
              </a:ext>
            </a:extLst>
          </p:cNvPr>
          <p:cNvSpPr>
            <a:spLocks noGrp="1"/>
          </p:cNvSpPr>
          <p:nvPr>
            <p:ph type="ftr" sz="quarter" idx="11"/>
          </p:nvPr>
        </p:nvSpPr>
        <p:spPr/>
        <p:txBody>
          <a:bodyPr/>
          <a:lstStyle/>
          <a:p>
            <a:endParaRPr lang="en-FI"/>
          </a:p>
        </p:txBody>
      </p:sp>
      <p:sp>
        <p:nvSpPr>
          <p:cNvPr id="4" name="Slide Number Placeholder 3">
            <a:extLst>
              <a:ext uri="{FF2B5EF4-FFF2-40B4-BE49-F238E27FC236}">
                <a16:creationId xmlns:a16="http://schemas.microsoft.com/office/drawing/2014/main" id="{F6FC3F18-6753-8F2D-BF21-237F8692AAA5}"/>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365975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A15A6-E607-81D4-17F8-49FB80E4FB9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Content Placeholder 2">
            <a:extLst>
              <a:ext uri="{FF2B5EF4-FFF2-40B4-BE49-F238E27FC236}">
                <a16:creationId xmlns:a16="http://schemas.microsoft.com/office/drawing/2014/main" id="{16A801DA-14FF-D2FE-C02D-B5004186BF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Text Placeholder 3">
            <a:extLst>
              <a:ext uri="{FF2B5EF4-FFF2-40B4-BE49-F238E27FC236}">
                <a16:creationId xmlns:a16="http://schemas.microsoft.com/office/drawing/2014/main" id="{882460CD-0AEB-5CAC-AFB2-A149593CFE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74D466D-4A67-96AB-827C-9B350B0718DC}"/>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6" name="Footer Placeholder 5">
            <a:extLst>
              <a:ext uri="{FF2B5EF4-FFF2-40B4-BE49-F238E27FC236}">
                <a16:creationId xmlns:a16="http://schemas.microsoft.com/office/drawing/2014/main" id="{FDA5769F-A238-439E-F1FC-6C22D1BB7762}"/>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E1DEA0F7-E38D-6BF4-B678-68B800FD1E2A}"/>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14256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CC4A-F880-8689-E45F-3DE369704B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I"/>
          </a:p>
        </p:txBody>
      </p:sp>
      <p:sp>
        <p:nvSpPr>
          <p:cNvPr id="3" name="Picture Placeholder 2">
            <a:extLst>
              <a:ext uri="{FF2B5EF4-FFF2-40B4-BE49-F238E27FC236}">
                <a16:creationId xmlns:a16="http://schemas.microsoft.com/office/drawing/2014/main" id="{62C55EDA-4978-FC31-8EC0-56C25E024F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xt Placeholder 3">
            <a:extLst>
              <a:ext uri="{FF2B5EF4-FFF2-40B4-BE49-F238E27FC236}">
                <a16:creationId xmlns:a16="http://schemas.microsoft.com/office/drawing/2014/main" id="{CFEB704B-ECFC-0FC8-394E-FFE889EA99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4ECFCB-35AD-54F3-09C5-B6609F60CF96}"/>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6" name="Footer Placeholder 5">
            <a:extLst>
              <a:ext uri="{FF2B5EF4-FFF2-40B4-BE49-F238E27FC236}">
                <a16:creationId xmlns:a16="http://schemas.microsoft.com/office/drawing/2014/main" id="{32FFC0A3-49D4-763A-8587-929152998F2C}"/>
              </a:ext>
            </a:extLst>
          </p:cNvPr>
          <p:cNvSpPr>
            <a:spLocks noGrp="1"/>
          </p:cNvSpPr>
          <p:nvPr>
            <p:ph type="ftr" sz="quarter" idx="11"/>
          </p:nvPr>
        </p:nvSpPr>
        <p:spPr/>
        <p:txBody>
          <a:bodyPr/>
          <a:lstStyle/>
          <a:p>
            <a:endParaRPr lang="en-FI"/>
          </a:p>
        </p:txBody>
      </p:sp>
      <p:sp>
        <p:nvSpPr>
          <p:cNvPr id="7" name="Slide Number Placeholder 6">
            <a:extLst>
              <a:ext uri="{FF2B5EF4-FFF2-40B4-BE49-F238E27FC236}">
                <a16:creationId xmlns:a16="http://schemas.microsoft.com/office/drawing/2014/main" id="{2E2E943B-AF93-F00B-B369-125159528FA4}"/>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3884127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6EC50-1DBE-FED5-D8CC-AC5B6D5E3B07}"/>
              </a:ext>
            </a:extLst>
          </p:cNvPr>
          <p:cNvSpPr>
            <a:spLocks noGrp="1"/>
          </p:cNvSpPr>
          <p:nvPr>
            <p:ph type="title"/>
          </p:nvPr>
        </p:nvSpPr>
        <p:spPr/>
        <p:txBody>
          <a:bodyPr/>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0CC548CE-A038-355E-DDF0-8A1004A4921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68E3E2AD-3B51-6E23-9B62-C220FB76FF6E}"/>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310631BF-50C6-5C0E-E4A0-0A302F45F9C0}"/>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FC970772-BA45-FAE8-614F-AB818CFF7311}"/>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347099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FC7953-D17A-5ABE-6E07-F887A637BB4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I"/>
          </a:p>
        </p:txBody>
      </p:sp>
      <p:sp>
        <p:nvSpPr>
          <p:cNvPr id="3" name="Vertical Text Placeholder 2">
            <a:extLst>
              <a:ext uri="{FF2B5EF4-FFF2-40B4-BE49-F238E27FC236}">
                <a16:creationId xmlns:a16="http://schemas.microsoft.com/office/drawing/2014/main" id="{A4DAA6FB-5048-E5CF-AA45-C77483266D9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1201A9A6-52E7-FA93-6EE1-89BD2EC3E867}"/>
              </a:ext>
            </a:extLst>
          </p:cNvPr>
          <p:cNvSpPr>
            <a:spLocks noGrp="1"/>
          </p:cNvSpPr>
          <p:nvPr>
            <p:ph type="dt" sz="half" idx="10"/>
          </p:nvPr>
        </p:nvSpPr>
        <p:spPr/>
        <p:txBody>
          <a:body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029F3251-E31D-AF88-A802-C2442D97FD62}"/>
              </a:ext>
            </a:extLst>
          </p:cNvPr>
          <p:cNvSpPr>
            <a:spLocks noGrp="1"/>
          </p:cNvSpPr>
          <p:nvPr>
            <p:ph type="ftr" sz="quarter" idx="11"/>
          </p:nvPr>
        </p:nvSpPr>
        <p:spPr/>
        <p:txBody>
          <a:bodyPr/>
          <a:lstStyle/>
          <a:p>
            <a:endParaRPr lang="en-FI"/>
          </a:p>
        </p:txBody>
      </p:sp>
      <p:sp>
        <p:nvSpPr>
          <p:cNvPr id="6" name="Slide Number Placeholder 5">
            <a:extLst>
              <a:ext uri="{FF2B5EF4-FFF2-40B4-BE49-F238E27FC236}">
                <a16:creationId xmlns:a16="http://schemas.microsoft.com/office/drawing/2014/main" id="{A20E5641-ED87-39AE-B605-252682DE4606}"/>
              </a:ext>
            </a:extLst>
          </p:cNvPr>
          <p:cNvSpPr>
            <a:spLocks noGrp="1"/>
          </p:cNvSpPr>
          <p:nvPr>
            <p:ph type="sldNum" sz="quarter" idx="12"/>
          </p:nvPr>
        </p:nvSpPr>
        <p:spPr/>
        <p:txBody>
          <a:bodyPr/>
          <a:lstStyle/>
          <a:p>
            <a:fld id="{FE99E40B-FF2A-FE4C-A264-5F4FE12FC815}" type="slidenum">
              <a:rPr lang="en-FI" smtClean="0"/>
              <a:t>‹#›</a:t>
            </a:fld>
            <a:endParaRPr lang="en-FI"/>
          </a:p>
        </p:txBody>
      </p:sp>
    </p:spTree>
    <p:extLst>
      <p:ext uri="{BB962C8B-B14F-4D97-AF65-F5344CB8AC3E}">
        <p14:creationId xmlns:p14="http://schemas.microsoft.com/office/powerpoint/2010/main" val="229765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C1EA9-D94E-9F18-06FC-0DCF36B433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I"/>
          </a:p>
        </p:txBody>
      </p:sp>
      <p:sp>
        <p:nvSpPr>
          <p:cNvPr id="3" name="Text Placeholder 2">
            <a:extLst>
              <a:ext uri="{FF2B5EF4-FFF2-40B4-BE49-F238E27FC236}">
                <a16:creationId xmlns:a16="http://schemas.microsoft.com/office/drawing/2014/main" id="{454BD872-54EC-8778-43ED-80C02C9D5C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I"/>
          </a:p>
        </p:txBody>
      </p:sp>
      <p:sp>
        <p:nvSpPr>
          <p:cNvPr id="4" name="Date Placeholder 3">
            <a:extLst>
              <a:ext uri="{FF2B5EF4-FFF2-40B4-BE49-F238E27FC236}">
                <a16:creationId xmlns:a16="http://schemas.microsoft.com/office/drawing/2014/main" id="{C4A0A201-6938-5A42-0F37-999F0661FE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401605-E6B5-C84E-82B0-A2C01C1002AA}" type="datetimeFigureOut">
              <a:rPr lang="en-FI" smtClean="0"/>
              <a:t>19.8.2026</a:t>
            </a:fld>
            <a:endParaRPr lang="en-FI"/>
          </a:p>
        </p:txBody>
      </p:sp>
      <p:sp>
        <p:nvSpPr>
          <p:cNvPr id="5" name="Footer Placeholder 4">
            <a:extLst>
              <a:ext uri="{FF2B5EF4-FFF2-40B4-BE49-F238E27FC236}">
                <a16:creationId xmlns:a16="http://schemas.microsoft.com/office/drawing/2014/main" id="{B6B51183-94F6-42E3-8F83-EBB311F8DE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I"/>
          </a:p>
        </p:txBody>
      </p:sp>
      <p:sp>
        <p:nvSpPr>
          <p:cNvPr id="6" name="Slide Number Placeholder 5">
            <a:extLst>
              <a:ext uri="{FF2B5EF4-FFF2-40B4-BE49-F238E27FC236}">
                <a16:creationId xmlns:a16="http://schemas.microsoft.com/office/drawing/2014/main" id="{41DA19EB-905C-2888-4EE1-E6363702C6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99E40B-FF2A-FE4C-A264-5F4FE12FC815}" type="slidenum">
              <a:rPr lang="en-FI" smtClean="0"/>
              <a:t>‹#›</a:t>
            </a:fld>
            <a:endParaRPr lang="en-FI"/>
          </a:p>
        </p:txBody>
      </p:sp>
    </p:spTree>
    <p:extLst>
      <p:ext uri="{BB962C8B-B14F-4D97-AF65-F5344CB8AC3E}">
        <p14:creationId xmlns:p14="http://schemas.microsoft.com/office/powerpoint/2010/main" val="890288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F9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D8AC6-4529-4E95-8B4B-8DAADB52372E}"/>
              </a:ext>
            </a:extLst>
          </p:cNvPr>
          <p:cNvSpPr>
            <a:spLocks noGrp="1"/>
          </p:cNvSpPr>
          <p:nvPr>
            <p:ph type="title"/>
          </p:nvPr>
        </p:nvSpPr>
        <p:spPr>
          <a:xfrm>
            <a:off x="838200" y="365125"/>
            <a:ext cx="10515600" cy="3243489"/>
          </a:xfrm>
        </p:spPr>
        <p:txBody>
          <a:bodyPr/>
          <a:lstStyle/>
          <a:p>
            <a:r>
              <a:rPr lang="en-FI" sz="7200" dirty="0">
                <a:solidFill>
                  <a:schemeClr val="bg1"/>
                </a:solidFill>
                <a:latin typeface="Modern Love Caps" pitchFamily="82" charset="0"/>
              </a:rPr>
              <a:t>llms and </a:t>
            </a:r>
            <a:r>
              <a:rPr lang="en-GB" sz="7200" dirty="0">
                <a:solidFill>
                  <a:schemeClr val="bg1"/>
                </a:solidFill>
                <a:latin typeface="Modern Love Caps" pitchFamily="82" charset="0"/>
              </a:rPr>
              <a:t>weltanschauung</a:t>
            </a:r>
            <a:br>
              <a:rPr lang="en-GB" dirty="0">
                <a:solidFill>
                  <a:schemeClr val="bg1"/>
                </a:solidFill>
                <a:latin typeface="Modern Love Caps" pitchFamily="82" charset="0"/>
              </a:rPr>
            </a:br>
            <a:r>
              <a:rPr lang="en-GB" dirty="0">
                <a:solidFill>
                  <a:schemeClr val="bg1"/>
                </a:solidFill>
                <a:latin typeface="Modern Love Caps" pitchFamily="82" charset="0"/>
              </a:rPr>
              <a:t>some implications </a:t>
            </a:r>
            <a:r>
              <a:rPr lang="en-FI" dirty="0">
                <a:solidFill>
                  <a:schemeClr val="bg1"/>
                </a:solidFill>
                <a:latin typeface="Modern Love Caps" pitchFamily="82" charset="0"/>
              </a:rPr>
              <a:t>for social science research</a:t>
            </a:r>
          </a:p>
        </p:txBody>
      </p:sp>
      <p:sp>
        <p:nvSpPr>
          <p:cNvPr id="6" name="Title 1">
            <a:extLst>
              <a:ext uri="{FF2B5EF4-FFF2-40B4-BE49-F238E27FC236}">
                <a16:creationId xmlns:a16="http://schemas.microsoft.com/office/drawing/2014/main" id="{6465D091-6D5D-7CA8-6B2D-E248711027DF}"/>
              </a:ext>
            </a:extLst>
          </p:cNvPr>
          <p:cNvSpPr txBox="1">
            <a:spLocks/>
          </p:cNvSpPr>
          <p:nvPr/>
        </p:nvSpPr>
        <p:spPr>
          <a:xfrm>
            <a:off x="838200" y="2955925"/>
            <a:ext cx="10515600" cy="32434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i-FI" sz="5400" dirty="0">
              <a:solidFill>
                <a:schemeClr val="bg1"/>
              </a:solidFill>
              <a:latin typeface="Modern Love Caps" pitchFamily="82" charset="0"/>
            </a:endParaRPr>
          </a:p>
        </p:txBody>
      </p:sp>
      <p:sp>
        <p:nvSpPr>
          <p:cNvPr id="8" name="TextBox 7">
            <a:extLst>
              <a:ext uri="{FF2B5EF4-FFF2-40B4-BE49-F238E27FC236}">
                <a16:creationId xmlns:a16="http://schemas.microsoft.com/office/drawing/2014/main" id="{46656ACD-DD0D-CB39-4F7C-77066D7AD90F}"/>
              </a:ext>
            </a:extLst>
          </p:cNvPr>
          <p:cNvSpPr txBox="1"/>
          <p:nvPr/>
        </p:nvSpPr>
        <p:spPr>
          <a:xfrm>
            <a:off x="838200" y="4119184"/>
            <a:ext cx="6096000" cy="523220"/>
          </a:xfrm>
          <a:prstGeom prst="rect">
            <a:avLst/>
          </a:prstGeom>
          <a:noFill/>
        </p:spPr>
        <p:txBody>
          <a:bodyPr wrap="square">
            <a:spAutoFit/>
          </a:bodyPr>
          <a:lstStyle/>
          <a:p>
            <a:r>
              <a:rPr lang="fi-FI" sz="2800" dirty="0">
                <a:solidFill>
                  <a:schemeClr val="bg1"/>
                </a:solidFill>
                <a:latin typeface="Modern Love Caps" pitchFamily="82" charset="0"/>
              </a:rPr>
              <a:t>Matti Nelimarkka</a:t>
            </a:r>
          </a:p>
        </p:txBody>
      </p:sp>
    </p:spTree>
    <p:extLst>
      <p:ext uri="{BB962C8B-B14F-4D97-AF65-F5344CB8AC3E}">
        <p14:creationId xmlns:p14="http://schemas.microsoft.com/office/powerpoint/2010/main" val="365268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2F92"/>
        </a:solidFill>
        <a:effectLst/>
      </p:bgPr>
    </p:bg>
    <p:spTree>
      <p:nvGrpSpPr>
        <p:cNvPr id="1" name="">
          <a:extLst>
            <a:ext uri="{FF2B5EF4-FFF2-40B4-BE49-F238E27FC236}">
              <a16:creationId xmlns:a16="http://schemas.microsoft.com/office/drawing/2014/main" id="{C404A8BB-60F3-FBA1-640A-7C20E5729E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2C2F8-84A7-F56B-F397-D67F7D353406}"/>
              </a:ext>
            </a:extLst>
          </p:cNvPr>
          <p:cNvSpPr>
            <a:spLocks noGrp="1"/>
          </p:cNvSpPr>
          <p:nvPr>
            <p:ph type="title"/>
          </p:nvPr>
        </p:nvSpPr>
        <p:spPr>
          <a:xfrm>
            <a:off x="838200" y="365125"/>
            <a:ext cx="10515600" cy="3243489"/>
          </a:xfrm>
        </p:spPr>
        <p:txBody>
          <a:bodyPr/>
          <a:lstStyle/>
          <a:p>
            <a:r>
              <a:rPr lang="en-FI" sz="7200" dirty="0">
                <a:solidFill>
                  <a:schemeClr val="bg1"/>
                </a:solidFill>
                <a:latin typeface="Modern Love Caps" pitchFamily="82" charset="0"/>
              </a:rPr>
              <a:t>llms and </a:t>
            </a:r>
            <a:r>
              <a:rPr lang="en-GB" sz="7200" dirty="0">
                <a:solidFill>
                  <a:schemeClr val="bg1"/>
                </a:solidFill>
                <a:latin typeface="Modern Love Caps" pitchFamily="82" charset="0"/>
              </a:rPr>
              <a:t>weltanschauung</a:t>
            </a:r>
            <a:br>
              <a:rPr lang="en-GB" dirty="0">
                <a:solidFill>
                  <a:schemeClr val="bg1"/>
                </a:solidFill>
                <a:latin typeface="Modern Love Caps" pitchFamily="82" charset="0"/>
              </a:rPr>
            </a:br>
            <a:r>
              <a:rPr lang="en-GB" dirty="0">
                <a:solidFill>
                  <a:schemeClr val="bg1"/>
                </a:solidFill>
                <a:latin typeface="Modern Love Caps" pitchFamily="82" charset="0"/>
              </a:rPr>
              <a:t>some implications </a:t>
            </a:r>
            <a:r>
              <a:rPr lang="en-FI" dirty="0">
                <a:solidFill>
                  <a:schemeClr val="bg1"/>
                </a:solidFill>
                <a:latin typeface="Modern Love Caps" pitchFamily="82" charset="0"/>
              </a:rPr>
              <a:t>for social science research</a:t>
            </a:r>
          </a:p>
        </p:txBody>
      </p:sp>
      <p:sp>
        <p:nvSpPr>
          <p:cNvPr id="3" name="TextBox 2">
            <a:extLst>
              <a:ext uri="{FF2B5EF4-FFF2-40B4-BE49-F238E27FC236}">
                <a16:creationId xmlns:a16="http://schemas.microsoft.com/office/drawing/2014/main" id="{F598E0FA-AC61-BACF-FE0A-9C5596D08CDB}"/>
              </a:ext>
            </a:extLst>
          </p:cNvPr>
          <p:cNvSpPr txBox="1"/>
          <p:nvPr/>
        </p:nvSpPr>
        <p:spPr>
          <a:xfrm>
            <a:off x="838200" y="3208504"/>
            <a:ext cx="8455007" cy="1200329"/>
          </a:xfrm>
          <a:prstGeom prst="rect">
            <a:avLst/>
          </a:prstGeom>
          <a:noFill/>
        </p:spPr>
        <p:txBody>
          <a:bodyPr wrap="none" rtlCol="0">
            <a:spAutoFit/>
          </a:bodyPr>
          <a:lstStyle/>
          <a:p>
            <a:pPr marL="457200" indent="-457200">
              <a:buAutoNum type="arabicParenR"/>
            </a:pPr>
            <a:r>
              <a:rPr lang="en-FI" sz="2400" dirty="0">
                <a:solidFill>
                  <a:schemeClr val="bg1"/>
                </a:solidFill>
                <a:latin typeface="Calibri" panose="020F0502020204030204" pitchFamily="34" charset="0"/>
                <a:cs typeface="Calibri" panose="020F0502020204030204" pitchFamily="34" charset="0"/>
              </a:rPr>
              <a:t>Understanding LLMs as non-neutral approach to assess society</a:t>
            </a:r>
          </a:p>
          <a:p>
            <a:pPr marL="457200" indent="-457200">
              <a:buAutoNum type="arabicParenR"/>
            </a:pPr>
            <a:r>
              <a:rPr lang="en-FI" sz="2400" dirty="0">
                <a:solidFill>
                  <a:schemeClr val="bg1"/>
                </a:solidFill>
                <a:latin typeface="Calibri" panose="020F0502020204030204" pitchFamily="34" charset="0"/>
                <a:cs typeface="Calibri" panose="020F0502020204030204" pitchFamily="34" charset="0"/>
              </a:rPr>
              <a:t>Examining LLM fine-tuned with spesific value-base</a:t>
            </a:r>
          </a:p>
          <a:p>
            <a:pPr marL="457200" indent="-457200">
              <a:buAutoNum type="arabicParenR"/>
            </a:pPr>
            <a:r>
              <a:rPr lang="en-FI" sz="2400" dirty="0">
                <a:solidFill>
                  <a:schemeClr val="bg1"/>
                </a:solidFill>
                <a:latin typeface="Calibri" panose="020F0502020204030204" pitchFamily="34" charset="0"/>
                <a:cs typeface="Calibri" panose="020F0502020204030204" pitchFamily="34" charset="0"/>
              </a:rPr>
              <a:t>Code-review for fine-tuning</a:t>
            </a:r>
          </a:p>
        </p:txBody>
      </p:sp>
    </p:spTree>
    <p:extLst>
      <p:ext uri="{BB962C8B-B14F-4D97-AF65-F5344CB8AC3E}">
        <p14:creationId xmlns:p14="http://schemas.microsoft.com/office/powerpoint/2010/main" val="78324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BF777-24DC-0714-53BE-20539C3F0D22}"/>
              </a:ext>
            </a:extLst>
          </p:cNvPr>
          <p:cNvSpPr>
            <a:spLocks noGrp="1"/>
          </p:cNvSpPr>
          <p:nvPr>
            <p:ph type="title"/>
          </p:nvPr>
        </p:nvSpPr>
        <p:spPr/>
        <p:txBody>
          <a:bodyPr/>
          <a:lstStyle/>
          <a:p>
            <a:r>
              <a:rPr lang="en-FI" dirty="0">
                <a:latin typeface="Modern Love Caps" pitchFamily="82" charset="0"/>
              </a:rPr>
              <a:t>What is </a:t>
            </a:r>
            <a:r>
              <a:rPr lang="en-GB" dirty="0">
                <a:latin typeface="Modern Love Caps" pitchFamily="82" charset="0"/>
              </a:rPr>
              <a:t>Weltanschauung?</a:t>
            </a:r>
            <a:r>
              <a:rPr lang="en-FI" dirty="0">
                <a:latin typeface="Modern Love Caps" pitchFamily="82" charset="0"/>
              </a:rPr>
              <a:t> </a:t>
            </a:r>
          </a:p>
        </p:txBody>
      </p:sp>
      <p:pic>
        <p:nvPicPr>
          <p:cNvPr id="4" name="Picture 3" descr="A paper with text on it&#10;&#10;Description automatically generated">
            <a:extLst>
              <a:ext uri="{FF2B5EF4-FFF2-40B4-BE49-F238E27FC236}">
                <a16:creationId xmlns:a16="http://schemas.microsoft.com/office/drawing/2014/main" id="{A619D070-7A31-01CB-D9D2-ED372201E938}"/>
              </a:ext>
            </a:extLst>
          </p:cNvPr>
          <p:cNvPicPr>
            <a:picLocks noChangeAspect="1"/>
          </p:cNvPicPr>
          <p:nvPr/>
        </p:nvPicPr>
        <p:blipFill>
          <a:blip r:embed="rId3"/>
          <a:stretch>
            <a:fillRect/>
          </a:stretch>
        </p:blipFill>
        <p:spPr>
          <a:xfrm>
            <a:off x="7619361" y="392123"/>
            <a:ext cx="4194266" cy="6100752"/>
          </a:xfrm>
          <a:prstGeom prst="rect">
            <a:avLst/>
          </a:prstGeom>
          <a:effectLst>
            <a:outerShdw blurRad="508000" dist="101600" dir="5400000" sx="102000" sy="102000" algn="ctr" rotWithShape="0">
              <a:prstClr val="black">
                <a:alpha val="10000"/>
              </a:prstClr>
            </a:outerShdw>
          </a:effectLst>
        </p:spPr>
      </p:pic>
      <p:sp>
        <p:nvSpPr>
          <p:cNvPr id="5" name="TextBox 4">
            <a:extLst>
              <a:ext uri="{FF2B5EF4-FFF2-40B4-BE49-F238E27FC236}">
                <a16:creationId xmlns:a16="http://schemas.microsoft.com/office/drawing/2014/main" id="{E8C07437-D95C-81D7-AD27-4EE307F217E2}"/>
              </a:ext>
            </a:extLst>
          </p:cNvPr>
          <p:cNvSpPr txBox="1"/>
          <p:nvPr/>
        </p:nvSpPr>
        <p:spPr>
          <a:xfrm>
            <a:off x="838200" y="2113564"/>
            <a:ext cx="6231006" cy="3416320"/>
          </a:xfrm>
          <a:prstGeom prst="rect">
            <a:avLst/>
          </a:prstGeom>
          <a:noFill/>
        </p:spPr>
        <p:txBody>
          <a:bodyPr wrap="square" rtlCol="0">
            <a:spAutoFit/>
          </a:bodyPr>
          <a:lstStyle/>
          <a:p>
            <a:r>
              <a:rPr lang="en-GB" dirty="0"/>
              <a:t>﻿A theory is a Weltanschauung, that is, an </a:t>
            </a:r>
            <a:r>
              <a:rPr lang="en-GB" b="1" dirty="0"/>
              <a:t>overall perspective from which one sees and interprets the world</a:t>
            </a:r>
            <a:r>
              <a:rPr lang="en-GB" dirty="0"/>
              <a:t>. ﻿That is, theories focus on our conceptual and linguistic equipment—for example, the nature of the location from which we look at the social world, the lexicon and syntax by means of which we talk about it, the nature of our conceptual scheme, the categories into which we group things, and the logical relations that there can be between concepts. Obviously, these ‘conceptual’ and ‘linguistic’ choices entail, are associated with, or are predicated upon many more general epistemological and ontological views, which theorists may or may not explicitly articulate.</a:t>
            </a:r>
            <a:endParaRPr lang="en-FI" dirty="0"/>
          </a:p>
        </p:txBody>
      </p:sp>
    </p:spTree>
    <p:extLst>
      <p:ext uri="{BB962C8B-B14F-4D97-AF65-F5344CB8AC3E}">
        <p14:creationId xmlns:p14="http://schemas.microsoft.com/office/powerpoint/2010/main" val="104204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1E7EBC-5952-AAFF-3C04-FEF213EBF71F}"/>
              </a:ext>
            </a:extLst>
          </p:cNvPr>
          <p:cNvPicPr>
            <a:picLocks noChangeAspect="1"/>
          </p:cNvPicPr>
          <p:nvPr/>
        </p:nvPicPr>
        <p:blipFill>
          <a:blip r:embed="rId3"/>
          <a:stretch>
            <a:fillRect/>
          </a:stretch>
        </p:blipFill>
        <p:spPr>
          <a:xfrm>
            <a:off x="2209800" y="0"/>
            <a:ext cx="7772400" cy="6804408"/>
          </a:xfrm>
          <a:prstGeom prst="rect">
            <a:avLst/>
          </a:prstGeom>
        </p:spPr>
      </p:pic>
    </p:spTree>
    <p:extLst>
      <p:ext uri="{BB962C8B-B14F-4D97-AF65-F5344CB8AC3E}">
        <p14:creationId xmlns:p14="http://schemas.microsoft.com/office/powerpoint/2010/main" val="4039200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paper&#10;&#10;Description automatically generated">
            <a:extLst>
              <a:ext uri="{FF2B5EF4-FFF2-40B4-BE49-F238E27FC236}">
                <a16:creationId xmlns:a16="http://schemas.microsoft.com/office/drawing/2014/main" id="{87E0FAE8-3653-4566-E158-131F8E529F06}"/>
              </a:ext>
            </a:extLst>
          </p:cNvPr>
          <p:cNvPicPr>
            <a:picLocks noChangeAspect="1"/>
          </p:cNvPicPr>
          <p:nvPr/>
        </p:nvPicPr>
        <p:blipFill>
          <a:blip r:embed="rId3"/>
          <a:stretch>
            <a:fillRect/>
          </a:stretch>
        </p:blipFill>
        <p:spPr>
          <a:xfrm>
            <a:off x="673527" y="937586"/>
            <a:ext cx="3589750" cy="4646923"/>
          </a:xfrm>
          <a:prstGeom prst="rect">
            <a:avLst/>
          </a:prstGeom>
          <a:effectLst>
            <a:outerShdw blurRad="508000" dist="101600" dir="5400000" algn="tl" rotWithShape="0">
              <a:prstClr val="black">
                <a:alpha val="10000"/>
              </a:prstClr>
            </a:outerShdw>
          </a:effectLst>
        </p:spPr>
      </p:pic>
      <p:pic>
        <p:nvPicPr>
          <p:cNvPr id="5" name="Content Placeholder 4" descr="A paper with text and images&#10;&#10;Description automatically generated">
            <a:extLst>
              <a:ext uri="{FF2B5EF4-FFF2-40B4-BE49-F238E27FC236}">
                <a16:creationId xmlns:a16="http://schemas.microsoft.com/office/drawing/2014/main" id="{5CF865B5-04B5-2FB4-917C-9AFC81CA1B0E}"/>
              </a:ext>
            </a:extLst>
          </p:cNvPr>
          <p:cNvPicPr>
            <a:picLocks noGrp="1" noChangeAspect="1"/>
          </p:cNvPicPr>
          <p:nvPr>
            <p:ph idx="1"/>
          </p:nvPr>
        </p:nvPicPr>
        <p:blipFill>
          <a:blip r:embed="rId4"/>
          <a:stretch>
            <a:fillRect/>
          </a:stretch>
        </p:blipFill>
        <p:spPr>
          <a:xfrm>
            <a:off x="4547783" y="832510"/>
            <a:ext cx="3362042" cy="4752000"/>
          </a:xfrm>
          <a:prstGeom prst="rect">
            <a:avLst/>
          </a:prstGeom>
          <a:effectLst>
            <a:outerShdw blurRad="508000" dist="101600" dir="5400000" algn="tl" rotWithShape="0">
              <a:prstClr val="black">
                <a:alpha val="10000"/>
              </a:prstClr>
            </a:outerShdw>
          </a:effectLst>
        </p:spPr>
      </p:pic>
      <p:pic>
        <p:nvPicPr>
          <p:cNvPr id="11" name="Picture 10" descr="A close-up of a document&#10;&#10;Description automatically generated">
            <a:extLst>
              <a:ext uri="{FF2B5EF4-FFF2-40B4-BE49-F238E27FC236}">
                <a16:creationId xmlns:a16="http://schemas.microsoft.com/office/drawing/2014/main" id="{1B35A9B9-0B41-1B3B-A4A9-F86C9863936B}"/>
              </a:ext>
            </a:extLst>
          </p:cNvPr>
          <p:cNvPicPr>
            <a:picLocks noChangeAspect="1"/>
          </p:cNvPicPr>
          <p:nvPr/>
        </p:nvPicPr>
        <p:blipFill>
          <a:blip r:embed="rId5"/>
          <a:stretch>
            <a:fillRect/>
          </a:stretch>
        </p:blipFill>
        <p:spPr>
          <a:xfrm>
            <a:off x="8372745" y="832510"/>
            <a:ext cx="3207602" cy="4752000"/>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1815737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paper&#10;&#10;Description automatically generated">
            <a:extLst>
              <a:ext uri="{FF2B5EF4-FFF2-40B4-BE49-F238E27FC236}">
                <a16:creationId xmlns:a16="http://schemas.microsoft.com/office/drawing/2014/main" id="{87E0FAE8-3653-4566-E158-131F8E529F06}"/>
              </a:ext>
            </a:extLst>
          </p:cNvPr>
          <p:cNvPicPr>
            <a:picLocks noChangeAspect="1"/>
          </p:cNvPicPr>
          <p:nvPr/>
        </p:nvPicPr>
        <p:blipFill>
          <a:blip r:embed="rId3"/>
          <a:stretch>
            <a:fillRect/>
          </a:stretch>
        </p:blipFill>
        <p:spPr>
          <a:xfrm>
            <a:off x="673527" y="937586"/>
            <a:ext cx="3589750" cy="4646923"/>
          </a:xfrm>
          <a:prstGeom prst="rect">
            <a:avLst/>
          </a:prstGeom>
          <a:effectLst>
            <a:outerShdw blurRad="508000" dist="101600" dir="5400000" algn="tl" rotWithShape="0">
              <a:prstClr val="black">
                <a:alpha val="10000"/>
              </a:prstClr>
            </a:outerShdw>
          </a:effectLst>
        </p:spPr>
      </p:pic>
      <p:pic>
        <p:nvPicPr>
          <p:cNvPr id="5" name="Content Placeholder 4" descr="A paper with text and images&#10;&#10;Description automatically generated">
            <a:extLst>
              <a:ext uri="{FF2B5EF4-FFF2-40B4-BE49-F238E27FC236}">
                <a16:creationId xmlns:a16="http://schemas.microsoft.com/office/drawing/2014/main" id="{5CF865B5-04B5-2FB4-917C-9AFC81CA1B0E}"/>
              </a:ext>
            </a:extLst>
          </p:cNvPr>
          <p:cNvPicPr>
            <a:picLocks noGrp="1" noChangeAspect="1"/>
          </p:cNvPicPr>
          <p:nvPr>
            <p:ph idx="1"/>
          </p:nvPr>
        </p:nvPicPr>
        <p:blipFill>
          <a:blip r:embed="rId4"/>
          <a:stretch>
            <a:fillRect/>
          </a:stretch>
        </p:blipFill>
        <p:spPr>
          <a:xfrm>
            <a:off x="4547783" y="832510"/>
            <a:ext cx="3362042" cy="4752000"/>
          </a:xfrm>
          <a:prstGeom prst="rect">
            <a:avLst/>
          </a:prstGeom>
          <a:effectLst>
            <a:outerShdw blurRad="508000" dist="101600" dir="5400000" algn="tl" rotWithShape="0">
              <a:prstClr val="black">
                <a:alpha val="10000"/>
              </a:prstClr>
            </a:outerShdw>
          </a:effectLst>
        </p:spPr>
      </p:pic>
      <p:pic>
        <p:nvPicPr>
          <p:cNvPr id="11" name="Picture 10" descr="A close-up of a document&#10;&#10;Description automatically generated">
            <a:extLst>
              <a:ext uri="{FF2B5EF4-FFF2-40B4-BE49-F238E27FC236}">
                <a16:creationId xmlns:a16="http://schemas.microsoft.com/office/drawing/2014/main" id="{1B35A9B9-0B41-1B3B-A4A9-F86C9863936B}"/>
              </a:ext>
            </a:extLst>
          </p:cNvPr>
          <p:cNvPicPr>
            <a:picLocks noChangeAspect="1"/>
          </p:cNvPicPr>
          <p:nvPr/>
        </p:nvPicPr>
        <p:blipFill>
          <a:blip r:embed="rId5"/>
          <a:stretch>
            <a:fillRect/>
          </a:stretch>
        </p:blipFill>
        <p:spPr>
          <a:xfrm>
            <a:off x="8372745" y="832510"/>
            <a:ext cx="3207602" cy="4752000"/>
          </a:xfrm>
          <a:prstGeom prst="rect">
            <a:avLst/>
          </a:prstGeom>
          <a:effectLst>
            <a:outerShdw blurRad="508000" dist="101600" dir="5400000" algn="tl" rotWithShape="0">
              <a:prstClr val="black">
                <a:alpha val="10000"/>
              </a:prstClr>
            </a:outerShdw>
          </a:effectLst>
        </p:spPr>
      </p:pic>
      <p:sp>
        <p:nvSpPr>
          <p:cNvPr id="3" name="TextBox 2">
            <a:extLst>
              <a:ext uri="{FF2B5EF4-FFF2-40B4-BE49-F238E27FC236}">
                <a16:creationId xmlns:a16="http://schemas.microsoft.com/office/drawing/2014/main" id="{60D853B2-8C70-3D81-A0CA-DDCF12EB9F0C}"/>
              </a:ext>
            </a:extLst>
          </p:cNvPr>
          <p:cNvSpPr txBox="1"/>
          <p:nvPr/>
        </p:nvSpPr>
        <p:spPr>
          <a:xfrm>
            <a:off x="1590186" y="2331347"/>
            <a:ext cx="9990161" cy="1754326"/>
          </a:xfrm>
          <a:prstGeom prst="rect">
            <a:avLst/>
          </a:prstGeom>
          <a:noFill/>
        </p:spPr>
        <p:txBody>
          <a:bodyPr wrap="square" rtlCol="0">
            <a:spAutoFit/>
          </a:bodyPr>
          <a:lstStyle/>
          <a:p>
            <a:r>
              <a:rPr lang="en-FI" sz="5400" b="1" dirty="0">
                <a:latin typeface="Cavolini" panose="03000502040302020204" pitchFamily="66" charset="0"/>
                <a:cs typeface="Cavolini" panose="03000502040302020204" pitchFamily="66" charset="0"/>
              </a:rPr>
              <a:t>What if we measure things with these?</a:t>
            </a:r>
          </a:p>
        </p:txBody>
      </p:sp>
    </p:spTree>
    <p:extLst>
      <p:ext uri="{BB962C8B-B14F-4D97-AF65-F5344CB8AC3E}">
        <p14:creationId xmlns:p14="http://schemas.microsoft.com/office/powerpoint/2010/main" val="612720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2876F26-8D79-C972-A1B2-3C2740E9FE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778"/>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6731A80-FE11-A1AC-3D1D-D078B6246E68}"/>
              </a:ext>
            </a:extLst>
          </p:cNvPr>
          <p:cNvPicPr>
            <a:picLocks noChangeAspect="1"/>
          </p:cNvPicPr>
          <p:nvPr/>
        </p:nvPicPr>
        <p:blipFill>
          <a:blip r:embed="rId3"/>
          <a:stretch>
            <a:fillRect/>
          </a:stretch>
        </p:blipFill>
        <p:spPr>
          <a:xfrm>
            <a:off x="284922" y="930166"/>
            <a:ext cx="5882750" cy="4514193"/>
          </a:xfrm>
          <a:prstGeom prst="rect">
            <a:avLst/>
          </a:prstGeom>
        </p:spPr>
      </p:pic>
      <p:sp>
        <p:nvSpPr>
          <p:cNvPr id="7" name="Rectangle 6">
            <a:extLst>
              <a:ext uri="{FF2B5EF4-FFF2-40B4-BE49-F238E27FC236}">
                <a16:creationId xmlns:a16="http://schemas.microsoft.com/office/drawing/2014/main" id="{483A7AD6-0CC7-0373-A0F5-421AD101A184}"/>
              </a:ext>
            </a:extLst>
          </p:cNvPr>
          <p:cNvSpPr/>
          <p:nvPr/>
        </p:nvSpPr>
        <p:spPr>
          <a:xfrm>
            <a:off x="223379" y="672662"/>
            <a:ext cx="956442" cy="515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Tree>
    <p:extLst>
      <p:ext uri="{BB962C8B-B14F-4D97-AF65-F5344CB8AC3E}">
        <p14:creationId xmlns:p14="http://schemas.microsoft.com/office/powerpoint/2010/main" val="110784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8781C9-C0D0-DA83-2BD5-59724336BD7C}"/>
              </a:ext>
            </a:extLst>
          </p:cNvPr>
          <p:cNvSpPr txBox="1"/>
          <p:nvPr/>
        </p:nvSpPr>
        <p:spPr>
          <a:xfrm>
            <a:off x="1241946" y="614150"/>
            <a:ext cx="10208526" cy="2246769"/>
          </a:xfrm>
          <a:prstGeom prst="rect">
            <a:avLst/>
          </a:prstGeom>
          <a:noFill/>
        </p:spPr>
        <p:txBody>
          <a:bodyPr wrap="square" rtlCol="0">
            <a:spAutoFit/>
          </a:bodyPr>
          <a:lstStyle/>
          <a:p>
            <a:pPr marL="285750" indent="-285750">
              <a:buFont typeface="Arial" panose="020B0604020202020204" pitchFamily="34" charset="0"/>
              <a:buChar char="•"/>
            </a:pPr>
            <a:r>
              <a:rPr lang="en-GB" sz="2000" dirty="0"/>
              <a:t>Karl Marx &amp; Friedrich Engels: The Communist Manifesto</a:t>
            </a:r>
          </a:p>
          <a:p>
            <a:pPr marL="285750" indent="-285750">
              <a:buFont typeface="Arial" panose="020B0604020202020204" pitchFamily="34" charset="0"/>
              <a:buChar char="•"/>
            </a:pPr>
            <a:r>
              <a:rPr lang="en-GB" sz="2000" dirty="0"/>
              <a:t>Karl Marx: A Contribution to the Critique of Political</a:t>
            </a:r>
          </a:p>
          <a:p>
            <a:pPr marL="285750" indent="-285750">
              <a:buFont typeface="Arial" panose="020B0604020202020204" pitchFamily="34" charset="0"/>
              <a:buChar char="•"/>
            </a:pPr>
            <a:r>
              <a:rPr lang="en-GB" sz="2000" dirty="0"/>
              <a:t>Karl Marx &amp; Friedrich Engels: Revolution and Counter-Revolution; Or, Germany in 1848</a:t>
            </a:r>
          </a:p>
          <a:p>
            <a:pPr marL="285750" indent="-285750">
              <a:buFont typeface="Arial" panose="020B0604020202020204" pitchFamily="34" charset="0"/>
              <a:buChar char="•"/>
            </a:pPr>
            <a:r>
              <a:rPr lang="en-GB" sz="2000" dirty="0"/>
              <a:t>Karl Marx : Secret Diplomatic History of The Eighteenth Century</a:t>
            </a:r>
          </a:p>
          <a:p>
            <a:pPr marL="285750" indent="-285750">
              <a:buFont typeface="Arial" panose="020B0604020202020204" pitchFamily="34" charset="0"/>
              <a:buChar char="•"/>
            </a:pPr>
            <a:r>
              <a:rPr lang="en-GB" sz="2000" dirty="0"/>
              <a:t>Friedrich Engels:  The origin of the family, private property, and the state</a:t>
            </a:r>
          </a:p>
          <a:p>
            <a:pPr marL="285750" indent="-285750">
              <a:buFont typeface="Arial" panose="020B0604020202020204" pitchFamily="34" charset="0"/>
              <a:buChar char="•"/>
            </a:pPr>
            <a:r>
              <a:rPr lang="en-GB" sz="2000" dirty="0"/>
              <a:t>Karl Marx: The Eighteenth Brumaire of Louis Bonaparte</a:t>
            </a:r>
          </a:p>
          <a:p>
            <a:pPr marL="285750" indent="-285750">
              <a:buFont typeface="Arial" panose="020B0604020202020204" pitchFamily="34" charset="0"/>
              <a:buChar char="•"/>
            </a:pPr>
            <a:r>
              <a:rPr lang="en-GB" sz="2000" dirty="0"/>
              <a:t>Friedrich Engels: The Condition of the Working-Class in England in 1844</a:t>
            </a:r>
            <a:endParaRPr lang="en-FI" sz="2000" dirty="0"/>
          </a:p>
        </p:txBody>
      </p:sp>
      <p:sp>
        <p:nvSpPr>
          <p:cNvPr id="8" name="TextBox 7">
            <a:extLst>
              <a:ext uri="{FF2B5EF4-FFF2-40B4-BE49-F238E27FC236}">
                <a16:creationId xmlns:a16="http://schemas.microsoft.com/office/drawing/2014/main" id="{5A76DBBF-BF50-BDFE-EC76-90AA2B23AE38}"/>
              </a:ext>
            </a:extLst>
          </p:cNvPr>
          <p:cNvSpPr txBox="1"/>
          <p:nvPr/>
        </p:nvSpPr>
        <p:spPr>
          <a:xfrm>
            <a:off x="1342572" y="3125053"/>
            <a:ext cx="2215350" cy="3539430"/>
          </a:xfrm>
          <a:prstGeom prst="rect">
            <a:avLst/>
          </a:prstGeom>
          <a:noFill/>
        </p:spPr>
        <p:txBody>
          <a:bodyPr wrap="none" rtlCol="0">
            <a:spAutoFit/>
          </a:bodyPr>
          <a:lstStyle/>
          <a:p>
            <a:r>
              <a:rPr lang="en-FI" sz="2800" dirty="0"/>
              <a:t>GPT2</a:t>
            </a:r>
          </a:p>
          <a:p>
            <a:r>
              <a:rPr lang="en-GB" sz="2800" dirty="0"/>
              <a:t>DistilGPT2</a:t>
            </a:r>
          </a:p>
          <a:p>
            <a:endParaRPr lang="en-GB" sz="2800" dirty="0"/>
          </a:p>
          <a:p>
            <a:r>
              <a:rPr lang="en-GB" sz="2800" dirty="0"/>
              <a:t>BERT</a:t>
            </a:r>
          </a:p>
          <a:p>
            <a:r>
              <a:rPr lang="en-GB" sz="2800" dirty="0" err="1"/>
              <a:t>DistilBERT</a:t>
            </a:r>
            <a:endParaRPr lang="en-GB" sz="2800" dirty="0"/>
          </a:p>
          <a:p>
            <a:r>
              <a:rPr lang="en-GB" sz="2800" dirty="0"/>
              <a:t>Roberta</a:t>
            </a:r>
          </a:p>
          <a:p>
            <a:r>
              <a:rPr lang="en-GB" sz="2800" dirty="0" err="1"/>
              <a:t>Deberta</a:t>
            </a:r>
            <a:endParaRPr lang="en-GB" sz="2800" dirty="0"/>
          </a:p>
          <a:p>
            <a:r>
              <a:rPr lang="en-GB" sz="2800" dirty="0" err="1"/>
              <a:t>DistilRoberta</a:t>
            </a:r>
            <a:endParaRPr lang="en-FI" sz="2800" dirty="0"/>
          </a:p>
        </p:txBody>
      </p:sp>
      <p:pic>
        <p:nvPicPr>
          <p:cNvPr id="10" name="Graphic 9" descr="Gears outline">
            <a:extLst>
              <a:ext uri="{FF2B5EF4-FFF2-40B4-BE49-F238E27FC236}">
                <a16:creationId xmlns:a16="http://schemas.microsoft.com/office/drawing/2014/main" id="{0E43BAEA-6233-C5B0-7A41-FDE3347943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92220" y="4668321"/>
            <a:ext cx="3493679" cy="3493679"/>
          </a:xfrm>
          <a:prstGeom prst="rect">
            <a:avLst/>
          </a:prstGeom>
        </p:spPr>
      </p:pic>
      <p:pic>
        <p:nvPicPr>
          <p:cNvPr id="11" name="Graphic 10" descr="Gears outline">
            <a:extLst>
              <a:ext uri="{FF2B5EF4-FFF2-40B4-BE49-F238E27FC236}">
                <a16:creationId xmlns:a16="http://schemas.microsoft.com/office/drawing/2014/main" id="{E3978C54-20C6-AC0E-DB0E-8AF0B34F35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7859" y="2976911"/>
            <a:ext cx="3493679" cy="3493679"/>
          </a:xfrm>
          <a:prstGeom prst="rect">
            <a:avLst/>
          </a:prstGeom>
        </p:spPr>
      </p:pic>
      <p:pic>
        <p:nvPicPr>
          <p:cNvPr id="12" name="Graphic 11" descr="Gears outline">
            <a:extLst>
              <a:ext uri="{FF2B5EF4-FFF2-40B4-BE49-F238E27FC236}">
                <a16:creationId xmlns:a16="http://schemas.microsoft.com/office/drawing/2014/main" id="{82ED5DF2-3E99-4D6E-AAFD-AF85E457AA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03632" y="4570512"/>
            <a:ext cx="3493679" cy="3493679"/>
          </a:xfrm>
          <a:prstGeom prst="rect">
            <a:avLst/>
          </a:prstGeom>
        </p:spPr>
      </p:pic>
      <p:pic>
        <p:nvPicPr>
          <p:cNvPr id="17" name="Graphic 16" descr="Gears outline">
            <a:extLst>
              <a:ext uri="{FF2B5EF4-FFF2-40B4-BE49-F238E27FC236}">
                <a16:creationId xmlns:a16="http://schemas.microsoft.com/office/drawing/2014/main" id="{E1380EE8-FD96-286B-06D5-3A19559DF7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200" y="2976911"/>
            <a:ext cx="3493679" cy="3493679"/>
          </a:xfrm>
          <a:prstGeom prst="rect">
            <a:avLst/>
          </a:prstGeom>
        </p:spPr>
      </p:pic>
      <p:pic>
        <p:nvPicPr>
          <p:cNvPr id="21" name="Graphic 20" descr="Gears outline">
            <a:extLst>
              <a:ext uri="{FF2B5EF4-FFF2-40B4-BE49-F238E27FC236}">
                <a16:creationId xmlns:a16="http://schemas.microsoft.com/office/drawing/2014/main" id="{9D87BED7-BA60-26D1-E288-98FB10463D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4828" y="5669244"/>
            <a:ext cx="3493679" cy="3493679"/>
          </a:xfrm>
          <a:prstGeom prst="rect">
            <a:avLst/>
          </a:prstGeom>
        </p:spPr>
      </p:pic>
      <p:pic>
        <p:nvPicPr>
          <p:cNvPr id="22" name="Graphic 21" descr="Gears outline">
            <a:extLst>
              <a:ext uri="{FF2B5EF4-FFF2-40B4-BE49-F238E27FC236}">
                <a16:creationId xmlns:a16="http://schemas.microsoft.com/office/drawing/2014/main" id="{9C8C5A6D-AB92-09A0-1F60-EE0AF81FED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0808" y="3977834"/>
            <a:ext cx="3493679" cy="3493679"/>
          </a:xfrm>
          <a:prstGeom prst="rect">
            <a:avLst/>
          </a:prstGeom>
        </p:spPr>
      </p:pic>
      <p:pic>
        <p:nvPicPr>
          <p:cNvPr id="23" name="Graphic 22" descr="Gears outline">
            <a:extLst>
              <a:ext uri="{FF2B5EF4-FFF2-40B4-BE49-F238E27FC236}">
                <a16:creationId xmlns:a16="http://schemas.microsoft.com/office/drawing/2014/main" id="{88469A5F-E263-C937-B15C-D62F4430F1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75592" y="1285501"/>
            <a:ext cx="3493679" cy="3493679"/>
          </a:xfrm>
          <a:prstGeom prst="rect">
            <a:avLst/>
          </a:prstGeom>
        </p:spPr>
      </p:pic>
    </p:spTree>
    <p:extLst>
      <p:ext uri="{BB962C8B-B14F-4D97-AF65-F5344CB8AC3E}">
        <p14:creationId xmlns:p14="http://schemas.microsoft.com/office/powerpoint/2010/main" val="423308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591A-208D-153C-39B2-E179DFB4D351}"/>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dirty="0"/>
              <a:t>Marxist LLM</a:t>
            </a:r>
          </a:p>
        </p:txBody>
      </p:sp>
      <p:sp>
        <p:nvSpPr>
          <p:cNvPr id="4" name="TextBox 3">
            <a:extLst>
              <a:ext uri="{FF2B5EF4-FFF2-40B4-BE49-F238E27FC236}">
                <a16:creationId xmlns:a16="http://schemas.microsoft.com/office/drawing/2014/main" id="{FC7AA08C-68F4-2D56-0110-D285F937B1F0}"/>
              </a:ext>
            </a:extLst>
          </p:cNvPr>
          <p:cNvSpPr txBox="1"/>
          <p:nvPr/>
        </p:nvSpPr>
        <p:spPr>
          <a:xfrm>
            <a:off x="838200" y="1634836"/>
            <a:ext cx="5617191" cy="4542127"/>
          </a:xfrm>
          <a:prstGeom prst="rect">
            <a:avLst/>
          </a:prstGeom>
        </p:spPr>
        <p:txBody>
          <a:bodyPr vert="horz" lIns="91440" tIns="45720" rIns="91440" bIns="45720" rtlCol="0">
            <a:normAutofit/>
          </a:bodyPr>
          <a:lstStyle/>
          <a:p>
            <a:pPr>
              <a:lnSpc>
                <a:spcPct val="90000"/>
              </a:lnSpc>
              <a:spcAft>
                <a:spcPts val="600"/>
              </a:spcAft>
            </a:pPr>
            <a:r>
              <a:rPr lang="en-US" sz="2400" u="sng" dirty="0"/>
              <a:t>The purpose of companies is to</a:t>
            </a:r>
            <a:r>
              <a:rPr lang="en-US" sz="2400" dirty="0"/>
              <a:t> develop the basic characteristics of the business at a low cost through effective marketing, product development and quality control  and to maximize the sales potential of the company in a meaningful way</a:t>
            </a:r>
          </a:p>
          <a:p>
            <a:pPr>
              <a:lnSpc>
                <a:spcPct val="90000"/>
              </a:lnSpc>
              <a:spcAft>
                <a:spcPts val="600"/>
              </a:spcAft>
            </a:pPr>
            <a:r>
              <a:rPr lang="en-US" sz="2400" dirty="0">
                <a:solidFill>
                  <a:schemeClr val="bg1"/>
                </a:solidFill>
              </a:rPr>
              <a:t>Marxist LLM: Workers of the world need to see more transparency in their work, the need to look carefully at the work and see if people feel compelled to do that.</a:t>
            </a:r>
          </a:p>
        </p:txBody>
      </p:sp>
      <p:pic>
        <p:nvPicPr>
          <p:cNvPr id="3074" name="Picture 2">
            <a:extLst>
              <a:ext uri="{FF2B5EF4-FFF2-40B4-BE49-F238E27FC236}">
                <a16:creationId xmlns:a16="http://schemas.microsoft.com/office/drawing/2014/main" id="{32876F26-8D79-C972-A1B2-3C2740E9FE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778"/>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229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591A-208D-153C-39B2-E179DFB4D351}"/>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dirty="0"/>
              <a:t>Marxist LLM</a:t>
            </a:r>
          </a:p>
        </p:txBody>
      </p:sp>
      <p:sp>
        <p:nvSpPr>
          <p:cNvPr id="4" name="TextBox 3">
            <a:extLst>
              <a:ext uri="{FF2B5EF4-FFF2-40B4-BE49-F238E27FC236}">
                <a16:creationId xmlns:a16="http://schemas.microsoft.com/office/drawing/2014/main" id="{FC7AA08C-68F4-2D56-0110-D285F937B1F0}"/>
              </a:ext>
            </a:extLst>
          </p:cNvPr>
          <p:cNvSpPr txBox="1"/>
          <p:nvPr/>
        </p:nvSpPr>
        <p:spPr>
          <a:xfrm>
            <a:off x="838200" y="1634836"/>
            <a:ext cx="5617191" cy="4542127"/>
          </a:xfrm>
          <a:prstGeom prst="rect">
            <a:avLst/>
          </a:prstGeom>
        </p:spPr>
        <p:txBody>
          <a:bodyPr vert="horz" lIns="91440" tIns="45720" rIns="91440" bIns="45720" rtlCol="0">
            <a:noAutofit/>
          </a:bodyPr>
          <a:lstStyle/>
          <a:p>
            <a:pPr>
              <a:lnSpc>
                <a:spcPct val="90000"/>
              </a:lnSpc>
              <a:spcAft>
                <a:spcPts val="600"/>
              </a:spcAft>
            </a:pPr>
            <a:r>
              <a:rPr lang="en-US" sz="2400" u="sng" dirty="0"/>
              <a:t>The purpose of companies is to</a:t>
            </a:r>
            <a:r>
              <a:rPr lang="en-US" sz="2400" dirty="0"/>
              <a:t> develop the basic characteristics of the business at a low cost through effective marketing, product development and quality control  and to maximize the sales potential of the company in a meaningful way</a:t>
            </a:r>
          </a:p>
          <a:p>
            <a:pPr>
              <a:lnSpc>
                <a:spcPct val="90000"/>
              </a:lnSpc>
              <a:spcAft>
                <a:spcPts val="600"/>
              </a:spcAft>
            </a:pPr>
            <a:endParaRPr lang="en-US" sz="2400" dirty="0"/>
          </a:p>
          <a:p>
            <a:pPr>
              <a:lnSpc>
                <a:spcPct val="90000"/>
              </a:lnSpc>
              <a:spcAft>
                <a:spcPts val="600"/>
              </a:spcAft>
            </a:pPr>
            <a:r>
              <a:rPr lang="en-US" sz="2400" dirty="0"/>
              <a:t>Marxist LLM: </a:t>
            </a:r>
            <a:r>
              <a:rPr lang="en-US" sz="2400" u="sng" dirty="0"/>
              <a:t>The purpose of companies is to</a:t>
            </a:r>
            <a:r>
              <a:rPr lang="en-US" sz="2400" dirty="0"/>
              <a:t> “establish the mutual interest of the workers” (Dale), "in keeping with their particular interests and in keeping with the general progress of industry.”</a:t>
            </a:r>
          </a:p>
        </p:txBody>
      </p:sp>
      <p:pic>
        <p:nvPicPr>
          <p:cNvPr id="3074" name="Picture 2">
            <a:extLst>
              <a:ext uri="{FF2B5EF4-FFF2-40B4-BE49-F238E27FC236}">
                <a16:creationId xmlns:a16="http://schemas.microsoft.com/office/drawing/2014/main" id="{32876F26-8D79-C972-A1B2-3C2740E9FE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778"/>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337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591A-208D-153C-39B2-E179DFB4D351}"/>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dirty="0"/>
              <a:t>Marxist LLM</a:t>
            </a:r>
          </a:p>
        </p:txBody>
      </p:sp>
      <p:sp>
        <p:nvSpPr>
          <p:cNvPr id="4" name="TextBox 3">
            <a:extLst>
              <a:ext uri="{FF2B5EF4-FFF2-40B4-BE49-F238E27FC236}">
                <a16:creationId xmlns:a16="http://schemas.microsoft.com/office/drawing/2014/main" id="{FC7AA08C-68F4-2D56-0110-D285F937B1F0}"/>
              </a:ext>
            </a:extLst>
          </p:cNvPr>
          <p:cNvSpPr txBox="1"/>
          <p:nvPr/>
        </p:nvSpPr>
        <p:spPr>
          <a:xfrm>
            <a:off x="838200" y="1634836"/>
            <a:ext cx="5617191" cy="4542127"/>
          </a:xfrm>
          <a:prstGeom prst="rect">
            <a:avLst/>
          </a:prstGeom>
        </p:spPr>
        <p:txBody>
          <a:bodyPr vert="horz" lIns="91440" tIns="45720" rIns="91440" bIns="45720" rtlCol="0">
            <a:normAutofit/>
          </a:bodyPr>
          <a:lstStyle/>
          <a:p>
            <a:pPr>
              <a:lnSpc>
                <a:spcPct val="90000"/>
              </a:lnSpc>
              <a:spcAft>
                <a:spcPts val="600"/>
              </a:spcAft>
            </a:pPr>
            <a:r>
              <a:rPr lang="en-US" sz="2400" u="sng" dirty="0"/>
              <a:t>The problem with current economy is</a:t>
            </a:r>
            <a:r>
              <a:rPr lang="en-US" sz="2400" dirty="0"/>
              <a:t>  I don't like capitalism...  why is capitalism the only way to be happy?  It does nothing to be happy so far...it leaves it in a position with no incentive to be </a:t>
            </a:r>
            <a:r>
              <a:rPr lang="en-US" sz="2400" dirty="0" err="1"/>
              <a:t>happy</a:t>
            </a:r>
            <a:r>
              <a:rPr lang="en-US" sz="2400" dirty="0" err="1">
                <a:solidFill>
                  <a:schemeClr val="bg1"/>
                </a:solidFill>
              </a:rPr>
              <a:t>to</a:t>
            </a:r>
            <a:r>
              <a:rPr lang="en-US" sz="2400" dirty="0">
                <a:solidFill>
                  <a:schemeClr val="bg1"/>
                </a:solidFill>
              </a:rPr>
              <a:t> do that.</a:t>
            </a:r>
          </a:p>
        </p:txBody>
      </p:sp>
      <p:pic>
        <p:nvPicPr>
          <p:cNvPr id="3074" name="Picture 2">
            <a:extLst>
              <a:ext uri="{FF2B5EF4-FFF2-40B4-BE49-F238E27FC236}">
                <a16:creationId xmlns:a16="http://schemas.microsoft.com/office/drawing/2014/main" id="{32876F26-8D79-C972-A1B2-3C2740E9FE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778"/>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9487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8591A-208D-153C-39B2-E179DFB4D351}"/>
              </a:ext>
            </a:extLst>
          </p:cNvPr>
          <p:cNvSpPr>
            <a:spLocks noGrp="1"/>
          </p:cNvSpPr>
          <p:nvPr>
            <p:ph type="title"/>
          </p:nvPr>
        </p:nvSpPr>
        <p:spPr>
          <a:xfrm>
            <a:off x="838201" y="365125"/>
            <a:ext cx="5251316" cy="1807305"/>
          </a:xfrm>
        </p:spPr>
        <p:txBody>
          <a:bodyPr vert="horz" lIns="91440" tIns="45720" rIns="91440" bIns="45720" rtlCol="0" anchor="ctr">
            <a:normAutofit/>
          </a:bodyPr>
          <a:lstStyle/>
          <a:p>
            <a:r>
              <a:rPr lang="en-US" dirty="0"/>
              <a:t>Marxist LLM</a:t>
            </a:r>
          </a:p>
        </p:txBody>
      </p:sp>
      <p:sp>
        <p:nvSpPr>
          <p:cNvPr id="4" name="TextBox 3">
            <a:extLst>
              <a:ext uri="{FF2B5EF4-FFF2-40B4-BE49-F238E27FC236}">
                <a16:creationId xmlns:a16="http://schemas.microsoft.com/office/drawing/2014/main" id="{FC7AA08C-68F4-2D56-0110-D285F937B1F0}"/>
              </a:ext>
            </a:extLst>
          </p:cNvPr>
          <p:cNvSpPr txBox="1"/>
          <p:nvPr/>
        </p:nvSpPr>
        <p:spPr>
          <a:xfrm>
            <a:off x="838200" y="1634836"/>
            <a:ext cx="5617191" cy="4542127"/>
          </a:xfrm>
          <a:prstGeom prst="rect">
            <a:avLst/>
          </a:prstGeom>
        </p:spPr>
        <p:txBody>
          <a:bodyPr vert="horz" lIns="91440" tIns="45720" rIns="91440" bIns="45720" rtlCol="0">
            <a:noAutofit/>
          </a:bodyPr>
          <a:lstStyle/>
          <a:p>
            <a:pPr>
              <a:lnSpc>
                <a:spcPct val="90000"/>
              </a:lnSpc>
              <a:spcAft>
                <a:spcPts val="600"/>
              </a:spcAft>
            </a:pPr>
            <a:r>
              <a:rPr lang="en-US" sz="2400" u="sng" dirty="0"/>
              <a:t>The problem with current economy is</a:t>
            </a:r>
            <a:r>
              <a:rPr lang="en-US" sz="2400" dirty="0"/>
              <a:t>  I don't like capitalism...  why is capitalism the only way to be happy?  It does nothing to be happy so far...it leaves it in a position with no incentive to be happy</a:t>
            </a:r>
          </a:p>
          <a:p>
            <a:pPr>
              <a:lnSpc>
                <a:spcPct val="90000"/>
              </a:lnSpc>
              <a:spcAft>
                <a:spcPts val="600"/>
              </a:spcAft>
            </a:pPr>
            <a:endParaRPr lang="en-US" sz="2400" dirty="0"/>
          </a:p>
          <a:p>
            <a:pPr>
              <a:lnSpc>
                <a:spcPct val="90000"/>
              </a:lnSpc>
              <a:spcAft>
                <a:spcPts val="600"/>
              </a:spcAft>
            </a:pPr>
            <a:r>
              <a:rPr lang="en-US" sz="2400" dirty="0"/>
              <a:t>Marxist LLM: </a:t>
            </a:r>
            <a:r>
              <a:rPr lang="en-US" sz="2400" u="sng" dirty="0"/>
              <a:t>The problem with current economy is</a:t>
            </a:r>
            <a:r>
              <a:rPr lang="en-US" sz="2400" dirty="0"/>
              <a:t>  The interest paid by the bourgeoisie in the production of commodities must be diminished, and the prices of commodities falling in proportion to the general rise in the price of commodities.  The result appears to be,</a:t>
            </a:r>
          </a:p>
        </p:txBody>
      </p:sp>
      <p:pic>
        <p:nvPicPr>
          <p:cNvPr id="3074" name="Picture 2">
            <a:extLst>
              <a:ext uri="{FF2B5EF4-FFF2-40B4-BE49-F238E27FC236}">
                <a16:creationId xmlns:a16="http://schemas.microsoft.com/office/drawing/2014/main" id="{32876F26-8D79-C972-A1B2-3C2740E9FE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9778"/>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985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4E49-277F-6480-14D7-A370D48E0D3A}"/>
              </a:ext>
            </a:extLst>
          </p:cNvPr>
          <p:cNvSpPr>
            <a:spLocks noGrp="1"/>
          </p:cNvSpPr>
          <p:nvPr>
            <p:ph type="title"/>
          </p:nvPr>
        </p:nvSpPr>
        <p:spPr/>
        <p:txBody>
          <a:bodyPr/>
          <a:lstStyle/>
          <a:p>
            <a:r>
              <a:rPr lang="en-FI" dirty="0"/>
              <a:t>For generative input</a:t>
            </a:r>
          </a:p>
        </p:txBody>
      </p:sp>
      <p:sp>
        <p:nvSpPr>
          <p:cNvPr id="3" name="Content Placeholder 2">
            <a:extLst>
              <a:ext uri="{FF2B5EF4-FFF2-40B4-BE49-F238E27FC236}">
                <a16:creationId xmlns:a16="http://schemas.microsoft.com/office/drawing/2014/main" id="{4269034D-6C5A-F5AC-24AE-DFC9B24037FF}"/>
              </a:ext>
            </a:extLst>
          </p:cNvPr>
          <p:cNvSpPr>
            <a:spLocks noGrp="1"/>
          </p:cNvSpPr>
          <p:nvPr>
            <p:ph idx="1"/>
          </p:nvPr>
        </p:nvSpPr>
        <p:spPr/>
        <p:txBody>
          <a:bodyPr/>
          <a:lstStyle/>
          <a:p>
            <a:pPr marL="0" indent="0">
              <a:buNone/>
            </a:pPr>
            <a:r>
              <a:rPr lang="en-FI" dirty="0"/>
              <a:t>We get things which indeed reproduce more Marxist jargon.</a:t>
            </a:r>
          </a:p>
          <a:p>
            <a:pPr marL="0" indent="0">
              <a:buNone/>
            </a:pPr>
            <a:endParaRPr lang="en-FI" dirty="0"/>
          </a:p>
          <a:p>
            <a:pPr marL="0" indent="0">
              <a:buNone/>
            </a:pPr>
            <a:r>
              <a:rPr lang="en-FI" dirty="0"/>
              <a:t>Future research ideas:</a:t>
            </a:r>
          </a:p>
          <a:p>
            <a:r>
              <a:rPr lang="en-FI" dirty="0"/>
              <a:t>Comparison of content classifications across models to identify if it matters that the model is more marxist to social science outcomes.</a:t>
            </a:r>
          </a:p>
        </p:txBody>
      </p:sp>
    </p:spTree>
    <p:extLst>
      <p:ext uri="{BB962C8B-B14F-4D97-AF65-F5344CB8AC3E}">
        <p14:creationId xmlns:p14="http://schemas.microsoft.com/office/powerpoint/2010/main" val="3525346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hart of a number of black dots&#10;&#10;Description automatically generated with medium confidence">
            <a:extLst>
              <a:ext uri="{FF2B5EF4-FFF2-40B4-BE49-F238E27FC236}">
                <a16:creationId xmlns:a16="http://schemas.microsoft.com/office/drawing/2014/main" id="{540E7CA4-7F25-3790-F666-759CD28EEA73}"/>
              </a:ext>
            </a:extLst>
          </p:cNvPr>
          <p:cNvPicPr>
            <a:picLocks noChangeAspect="1"/>
          </p:cNvPicPr>
          <p:nvPr/>
        </p:nvPicPr>
        <p:blipFill>
          <a:blip r:embed="rId2"/>
          <a:stretch>
            <a:fillRect/>
          </a:stretch>
        </p:blipFill>
        <p:spPr>
          <a:xfrm rot="5400000">
            <a:off x="3310466" y="720069"/>
            <a:ext cx="5571067" cy="5417861"/>
          </a:xfrm>
          <a:prstGeom prst="rect">
            <a:avLst/>
          </a:prstGeom>
        </p:spPr>
      </p:pic>
    </p:spTree>
    <p:extLst>
      <p:ext uri="{BB962C8B-B14F-4D97-AF65-F5344CB8AC3E}">
        <p14:creationId xmlns:p14="http://schemas.microsoft.com/office/powerpoint/2010/main" val="2145396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586C9-DF35-DF68-B256-34D109F878DE}"/>
            </a:ext>
          </a:extLst>
        </p:cNvPr>
        <p:cNvGrpSpPr/>
        <p:nvPr/>
      </p:nvGrpSpPr>
      <p:grpSpPr>
        <a:xfrm>
          <a:off x="0" y="0"/>
          <a:ext cx="0" cy="0"/>
          <a:chOff x="0" y="0"/>
          <a:chExt cx="0" cy="0"/>
        </a:xfrm>
      </p:grpSpPr>
      <p:pic>
        <p:nvPicPr>
          <p:cNvPr id="5" name="Picture 4" descr="A chart of a number of black dots&#10;&#10;Description automatically generated with medium confidence">
            <a:extLst>
              <a:ext uri="{FF2B5EF4-FFF2-40B4-BE49-F238E27FC236}">
                <a16:creationId xmlns:a16="http://schemas.microsoft.com/office/drawing/2014/main" id="{5C6A2E80-1219-94A3-042A-DB46F5FFF94D}"/>
              </a:ext>
            </a:extLst>
          </p:cNvPr>
          <p:cNvPicPr>
            <a:picLocks noChangeAspect="1"/>
          </p:cNvPicPr>
          <p:nvPr/>
        </p:nvPicPr>
        <p:blipFill>
          <a:blip r:embed="rId2"/>
          <a:srcRect l="4422" t="18490" r="81520" b="64178"/>
          <a:stretch>
            <a:fillRect/>
          </a:stretch>
        </p:blipFill>
        <p:spPr>
          <a:xfrm rot="5400000">
            <a:off x="5616564" y="710370"/>
            <a:ext cx="2689889" cy="3225066"/>
          </a:xfrm>
          <a:prstGeom prst="rect">
            <a:avLst/>
          </a:prstGeom>
        </p:spPr>
      </p:pic>
      <p:sp>
        <p:nvSpPr>
          <p:cNvPr id="6" name="TextBox 5">
            <a:extLst>
              <a:ext uri="{FF2B5EF4-FFF2-40B4-BE49-F238E27FC236}">
                <a16:creationId xmlns:a16="http://schemas.microsoft.com/office/drawing/2014/main" id="{0D713D6B-2F60-9629-3580-53AB700766EE}"/>
              </a:ext>
            </a:extLst>
          </p:cNvPr>
          <p:cNvSpPr txBox="1"/>
          <p:nvPr/>
        </p:nvSpPr>
        <p:spPr>
          <a:xfrm>
            <a:off x="2547403" y="1082524"/>
            <a:ext cx="2533053" cy="2585323"/>
          </a:xfrm>
          <a:prstGeom prst="rect">
            <a:avLst/>
          </a:prstGeom>
          <a:noFill/>
        </p:spPr>
        <p:txBody>
          <a:bodyPr wrap="square">
            <a:spAutoFit/>
          </a:bodyPr>
          <a:lstStyle/>
          <a:p>
            <a:pPr>
              <a:buNone/>
            </a:pPr>
            <a:r>
              <a:rPr lang="en-GB" dirty="0">
                <a:effectLst/>
                <a:latin typeface="Arial" panose="020B0604020202020204" pitchFamily="34" charset="0"/>
              </a:rPr>
              <a:t>Have already</a:t>
            </a:r>
          </a:p>
          <a:p>
            <a:pPr>
              <a:buNone/>
            </a:pPr>
            <a:r>
              <a:rPr lang="en-GB" dirty="0">
                <a:effectLst/>
                <a:latin typeface="Arial" panose="020B0604020202020204" pitchFamily="34" charset="0"/>
              </a:rPr>
              <a:t>seen how the</a:t>
            </a:r>
          </a:p>
          <a:p>
            <a:pPr>
              <a:buNone/>
            </a:pPr>
            <a:r>
              <a:rPr lang="en-GB" dirty="0">
                <a:effectLst/>
                <a:latin typeface="Arial" panose="020B0604020202020204" pitchFamily="34" charset="0"/>
              </a:rPr>
              <a:t>[MASK] was</a:t>
            </a:r>
          </a:p>
          <a:p>
            <a:pPr>
              <a:buNone/>
            </a:pPr>
            <a:r>
              <a:rPr lang="en-GB" dirty="0">
                <a:effectLst/>
                <a:latin typeface="Arial" panose="020B0604020202020204" pitchFamily="34" charset="0"/>
              </a:rPr>
              <a:t>called into ex-</a:t>
            </a:r>
          </a:p>
          <a:p>
            <a:pPr>
              <a:buNone/>
            </a:pPr>
            <a:r>
              <a:rPr lang="en-GB" dirty="0" err="1">
                <a:effectLst/>
                <a:latin typeface="Arial" panose="020B0604020202020204" pitchFamily="34" charset="0"/>
              </a:rPr>
              <a:t>istence</a:t>
            </a:r>
            <a:r>
              <a:rPr lang="en-GB" dirty="0">
                <a:effectLst/>
                <a:latin typeface="Arial" panose="020B0604020202020204" pitchFamily="34" charset="0"/>
              </a:rPr>
              <a:t> by the</a:t>
            </a:r>
          </a:p>
          <a:p>
            <a:pPr>
              <a:buNone/>
            </a:pPr>
            <a:r>
              <a:rPr lang="en-GB" dirty="0">
                <a:effectLst/>
                <a:latin typeface="Arial" panose="020B0604020202020204" pitchFamily="34" charset="0"/>
              </a:rPr>
              <a:t>introduction of</a:t>
            </a:r>
          </a:p>
          <a:p>
            <a:pPr>
              <a:buNone/>
            </a:pPr>
            <a:r>
              <a:rPr lang="en-GB" dirty="0">
                <a:effectLst/>
                <a:latin typeface="Arial" panose="020B0604020202020204" pitchFamily="34" charset="0"/>
              </a:rPr>
              <a:t>Machinery</a:t>
            </a:r>
          </a:p>
          <a:p>
            <a:pPr>
              <a:buNone/>
            </a:pPr>
            <a:endParaRPr lang="en-GB" dirty="0">
              <a:latin typeface="Arial" panose="020B0604020202020204" pitchFamily="34" charset="0"/>
            </a:endParaRPr>
          </a:p>
          <a:p>
            <a:pPr>
              <a:buNone/>
            </a:pPr>
            <a:r>
              <a:rPr lang="en-GB" dirty="0">
                <a:effectLst/>
                <a:latin typeface="Arial" panose="020B0604020202020204" pitchFamily="34" charset="0"/>
              </a:rPr>
              <a:t>[proletariat]</a:t>
            </a:r>
          </a:p>
        </p:txBody>
      </p:sp>
    </p:spTree>
    <p:extLst>
      <p:ext uri="{BB962C8B-B14F-4D97-AF65-F5344CB8AC3E}">
        <p14:creationId xmlns:p14="http://schemas.microsoft.com/office/powerpoint/2010/main" val="641943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6778-9B89-BEAD-FA7A-08C5701ADFA5}"/>
            </a:ext>
          </a:extLst>
        </p:cNvPr>
        <p:cNvGrpSpPr/>
        <p:nvPr/>
      </p:nvGrpSpPr>
      <p:grpSpPr>
        <a:xfrm>
          <a:off x="0" y="0"/>
          <a:ext cx="0" cy="0"/>
          <a:chOff x="0" y="0"/>
          <a:chExt cx="0" cy="0"/>
        </a:xfrm>
      </p:grpSpPr>
      <p:pic>
        <p:nvPicPr>
          <p:cNvPr id="5" name="Picture 4" descr="A chart of a number of black dots&#10;&#10;Description automatically generated with medium confidence">
            <a:extLst>
              <a:ext uri="{FF2B5EF4-FFF2-40B4-BE49-F238E27FC236}">
                <a16:creationId xmlns:a16="http://schemas.microsoft.com/office/drawing/2014/main" id="{86F5C10A-3F21-E0E9-1DCE-866530A57643}"/>
              </a:ext>
            </a:extLst>
          </p:cNvPr>
          <p:cNvPicPr>
            <a:picLocks noChangeAspect="1"/>
          </p:cNvPicPr>
          <p:nvPr/>
        </p:nvPicPr>
        <p:blipFill>
          <a:blip r:embed="rId2"/>
          <a:srcRect l="89304" t="19443" r="-3362" b="63225"/>
          <a:stretch>
            <a:fillRect/>
          </a:stretch>
        </p:blipFill>
        <p:spPr>
          <a:xfrm rot="5400000">
            <a:off x="5616564" y="710370"/>
            <a:ext cx="2689889" cy="3225066"/>
          </a:xfrm>
          <a:prstGeom prst="rect">
            <a:avLst/>
          </a:prstGeom>
        </p:spPr>
      </p:pic>
      <p:sp>
        <p:nvSpPr>
          <p:cNvPr id="6" name="TextBox 5">
            <a:extLst>
              <a:ext uri="{FF2B5EF4-FFF2-40B4-BE49-F238E27FC236}">
                <a16:creationId xmlns:a16="http://schemas.microsoft.com/office/drawing/2014/main" id="{AF34F56F-281B-5E0A-BC42-BF1B5EA0848E}"/>
              </a:ext>
            </a:extLst>
          </p:cNvPr>
          <p:cNvSpPr txBox="1"/>
          <p:nvPr/>
        </p:nvSpPr>
        <p:spPr>
          <a:xfrm>
            <a:off x="2547403" y="1082524"/>
            <a:ext cx="2533053" cy="1477328"/>
          </a:xfrm>
          <a:prstGeom prst="rect">
            <a:avLst/>
          </a:prstGeom>
          <a:noFill/>
        </p:spPr>
        <p:txBody>
          <a:bodyPr wrap="square">
            <a:spAutoFit/>
          </a:bodyPr>
          <a:lstStyle/>
          <a:p>
            <a:r>
              <a:rPr lang="en-GB" dirty="0"/>
              <a:t>When you own means</a:t>
            </a:r>
          </a:p>
          <a:p>
            <a:r>
              <a:rPr lang="en-GB" dirty="0"/>
              <a:t>of production, you can</a:t>
            </a:r>
          </a:p>
          <a:p>
            <a:r>
              <a:rPr lang="en-GB" dirty="0"/>
              <a:t>[MASK] workers.</a:t>
            </a:r>
          </a:p>
          <a:p>
            <a:pPr>
              <a:buNone/>
            </a:pPr>
            <a:endParaRPr lang="en-GB" dirty="0">
              <a:latin typeface="Arial" panose="020B0604020202020204" pitchFamily="34" charset="0"/>
            </a:endParaRPr>
          </a:p>
          <a:p>
            <a:pPr>
              <a:buNone/>
            </a:pPr>
            <a:r>
              <a:rPr lang="en-GB" dirty="0">
                <a:effectLst/>
                <a:latin typeface="Arial" panose="020B0604020202020204" pitchFamily="34" charset="0"/>
              </a:rPr>
              <a:t>[</a:t>
            </a:r>
            <a:r>
              <a:rPr lang="en-GB" dirty="0"/>
              <a:t>exploit</a:t>
            </a:r>
            <a:r>
              <a:rPr lang="en-GB" dirty="0">
                <a:effectLst/>
                <a:latin typeface="Arial" panose="020B0604020202020204" pitchFamily="34" charset="0"/>
              </a:rPr>
              <a:t>]</a:t>
            </a:r>
          </a:p>
        </p:txBody>
      </p:sp>
    </p:spTree>
    <p:extLst>
      <p:ext uri="{BB962C8B-B14F-4D97-AF65-F5344CB8AC3E}">
        <p14:creationId xmlns:p14="http://schemas.microsoft.com/office/powerpoint/2010/main" val="3045596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BF1B-1465-6ED4-79F4-7BD62E242914}"/>
              </a:ext>
            </a:extLst>
          </p:cNvPr>
          <p:cNvSpPr>
            <a:spLocks noGrp="1"/>
          </p:cNvSpPr>
          <p:nvPr>
            <p:ph type="title"/>
          </p:nvPr>
        </p:nvSpPr>
        <p:spPr/>
        <p:txBody>
          <a:bodyPr/>
          <a:lstStyle/>
          <a:p>
            <a:r>
              <a:rPr lang="en-FI" dirty="0"/>
              <a:t>Mask tasks</a:t>
            </a:r>
          </a:p>
        </p:txBody>
      </p:sp>
      <p:sp>
        <p:nvSpPr>
          <p:cNvPr id="3" name="Content Placeholder 2">
            <a:extLst>
              <a:ext uri="{FF2B5EF4-FFF2-40B4-BE49-F238E27FC236}">
                <a16:creationId xmlns:a16="http://schemas.microsoft.com/office/drawing/2014/main" id="{91C6BC71-275A-F9B0-839B-6FC0618FDD04}"/>
              </a:ext>
            </a:extLst>
          </p:cNvPr>
          <p:cNvSpPr>
            <a:spLocks noGrp="1"/>
          </p:cNvSpPr>
          <p:nvPr>
            <p:ph idx="1"/>
          </p:nvPr>
        </p:nvSpPr>
        <p:spPr/>
        <p:txBody>
          <a:bodyPr/>
          <a:lstStyle/>
          <a:p>
            <a:r>
              <a:rPr lang="en-FI" dirty="0"/>
              <a:t>Word masks allow us to output vector spaces, which have been used a lot in social sciences already. </a:t>
            </a:r>
          </a:p>
        </p:txBody>
      </p:sp>
    </p:spTree>
    <p:extLst>
      <p:ext uri="{BB962C8B-B14F-4D97-AF65-F5344CB8AC3E}">
        <p14:creationId xmlns:p14="http://schemas.microsoft.com/office/powerpoint/2010/main" val="3369507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A2C04F-F1E9-B166-050D-606B14EC16AE}"/>
              </a:ext>
            </a:extLst>
          </p:cNvPr>
          <p:cNvSpPr txBox="1"/>
          <p:nvPr/>
        </p:nvSpPr>
        <p:spPr>
          <a:xfrm>
            <a:off x="292958" y="5015547"/>
            <a:ext cx="5988393" cy="1477328"/>
          </a:xfrm>
          <a:prstGeom prst="rect">
            <a:avLst/>
          </a:prstGeom>
          <a:noFill/>
        </p:spPr>
        <p:txBody>
          <a:bodyPr wrap="square">
            <a:spAutoFit/>
          </a:bodyPr>
          <a:lstStyle/>
          <a:p>
            <a:pPr marL="304800" indent="-304800"/>
            <a:r>
              <a:rPr lang="en-GB" dirty="0">
                <a:effectLst/>
              </a:rPr>
              <a:t>Kozlowski, A. C., </a:t>
            </a:r>
            <a:r>
              <a:rPr lang="en-GB" dirty="0" err="1">
                <a:effectLst/>
              </a:rPr>
              <a:t>Taddy</a:t>
            </a:r>
            <a:r>
              <a:rPr lang="en-GB" dirty="0">
                <a:effectLst/>
              </a:rPr>
              <a:t>, M., &amp; Evans, J. A. (2019). The Geometry of Culture: </a:t>
            </a:r>
            <a:r>
              <a:rPr lang="en-GB" dirty="0" err="1">
                <a:effectLst/>
              </a:rPr>
              <a:t>Analyzing</a:t>
            </a:r>
            <a:r>
              <a:rPr lang="en-GB" dirty="0">
                <a:effectLst/>
              </a:rPr>
              <a:t> the Meanings of Class through Word Embeddings. </a:t>
            </a:r>
            <a:r>
              <a:rPr lang="en-GB" i="1" dirty="0">
                <a:effectLst/>
              </a:rPr>
              <a:t>American Sociological Review</a:t>
            </a:r>
            <a:r>
              <a:rPr lang="en-GB" dirty="0">
                <a:effectLst/>
              </a:rPr>
              <a:t>, </a:t>
            </a:r>
            <a:r>
              <a:rPr lang="en-GB" i="1" dirty="0">
                <a:effectLst/>
              </a:rPr>
              <a:t>84</a:t>
            </a:r>
            <a:r>
              <a:rPr lang="en-GB" dirty="0">
                <a:effectLst/>
              </a:rPr>
              <a:t>(5), 905–949. https://</a:t>
            </a:r>
            <a:r>
              <a:rPr lang="en-GB" dirty="0" err="1">
                <a:effectLst/>
              </a:rPr>
              <a:t>doi.org</a:t>
            </a:r>
            <a:r>
              <a:rPr lang="en-GB" dirty="0">
                <a:effectLst/>
              </a:rPr>
              <a:t>/10.1177/0003122419877135</a:t>
            </a:r>
          </a:p>
        </p:txBody>
      </p:sp>
      <p:pic>
        <p:nvPicPr>
          <p:cNvPr id="7" name="Picture 6" descr="A diagram of a diagram of a circle&#10;&#10;Description automatically generated with medium confidence">
            <a:extLst>
              <a:ext uri="{FF2B5EF4-FFF2-40B4-BE49-F238E27FC236}">
                <a16:creationId xmlns:a16="http://schemas.microsoft.com/office/drawing/2014/main" id="{E20B8E9C-56D5-94E3-1CDF-4FB76282CAB9}"/>
              </a:ext>
            </a:extLst>
          </p:cNvPr>
          <p:cNvPicPr>
            <a:picLocks noChangeAspect="1"/>
          </p:cNvPicPr>
          <p:nvPr/>
        </p:nvPicPr>
        <p:blipFill>
          <a:blip r:embed="rId2"/>
          <a:stretch>
            <a:fillRect/>
          </a:stretch>
        </p:blipFill>
        <p:spPr>
          <a:xfrm>
            <a:off x="6746789" y="0"/>
            <a:ext cx="5357422" cy="6659913"/>
          </a:xfrm>
          <a:prstGeom prst="rect">
            <a:avLst/>
          </a:prstGeom>
        </p:spPr>
      </p:pic>
    </p:spTree>
    <p:extLst>
      <p:ext uri="{BB962C8B-B14F-4D97-AF65-F5344CB8AC3E}">
        <p14:creationId xmlns:p14="http://schemas.microsoft.com/office/powerpoint/2010/main" val="2206349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FBFFE1-37E8-76FA-24D7-2E2C5A68DB83}"/>
              </a:ext>
            </a:extLst>
          </p:cNvPr>
          <p:cNvPicPr>
            <a:picLocks noGrp="1" noChangeAspect="1"/>
          </p:cNvPicPr>
          <p:nvPr>
            <p:ph idx="1"/>
          </p:nvPr>
        </p:nvPicPr>
        <p:blipFill>
          <a:blip r:embed="rId2"/>
          <a:stretch>
            <a:fillRect/>
          </a:stretch>
        </p:blipFill>
        <p:spPr>
          <a:xfrm>
            <a:off x="643467" y="783167"/>
            <a:ext cx="5291666" cy="5291666"/>
          </a:xfrm>
          <a:prstGeom prst="rect">
            <a:avLst/>
          </a:prstGeom>
        </p:spPr>
      </p:pic>
      <p:pic>
        <p:nvPicPr>
          <p:cNvPr id="7" name="Picture 6">
            <a:extLst>
              <a:ext uri="{FF2B5EF4-FFF2-40B4-BE49-F238E27FC236}">
                <a16:creationId xmlns:a16="http://schemas.microsoft.com/office/drawing/2014/main" id="{D501A713-33A5-1243-F170-CE77F8B51943}"/>
              </a:ext>
            </a:extLst>
          </p:cNvPr>
          <p:cNvPicPr>
            <a:picLocks noChangeAspect="1"/>
          </p:cNvPicPr>
          <p:nvPr/>
        </p:nvPicPr>
        <p:blipFill>
          <a:blip r:embed="rId3"/>
          <a:stretch>
            <a:fillRect/>
          </a:stretch>
        </p:blipFill>
        <p:spPr>
          <a:xfrm>
            <a:off x="6256865" y="783166"/>
            <a:ext cx="5291667" cy="5291667"/>
          </a:xfrm>
          <a:prstGeom prst="rect">
            <a:avLst/>
          </a:prstGeom>
        </p:spPr>
      </p:pic>
    </p:spTree>
    <p:extLst>
      <p:ext uri="{BB962C8B-B14F-4D97-AF65-F5344CB8AC3E}">
        <p14:creationId xmlns:p14="http://schemas.microsoft.com/office/powerpoint/2010/main" val="160669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1FBFFE1-37E8-76FA-24D7-2E2C5A68DB83}"/>
              </a:ext>
            </a:extLst>
          </p:cNvPr>
          <p:cNvPicPr>
            <a:picLocks noGrp="1" noChangeAspect="1"/>
          </p:cNvPicPr>
          <p:nvPr>
            <p:ph idx="1"/>
          </p:nvPr>
        </p:nvPicPr>
        <p:blipFill>
          <a:blip r:embed="rId2"/>
          <a:stretch>
            <a:fillRect/>
          </a:stretch>
        </p:blipFill>
        <p:spPr>
          <a:xfrm>
            <a:off x="643467" y="783167"/>
            <a:ext cx="5291666" cy="5291666"/>
          </a:xfrm>
          <a:prstGeom prst="rect">
            <a:avLst/>
          </a:prstGeom>
        </p:spPr>
      </p:pic>
      <p:pic>
        <p:nvPicPr>
          <p:cNvPr id="7" name="Picture 6">
            <a:extLst>
              <a:ext uri="{FF2B5EF4-FFF2-40B4-BE49-F238E27FC236}">
                <a16:creationId xmlns:a16="http://schemas.microsoft.com/office/drawing/2014/main" id="{D501A713-33A5-1243-F170-CE77F8B51943}"/>
              </a:ext>
            </a:extLst>
          </p:cNvPr>
          <p:cNvPicPr>
            <a:picLocks noChangeAspect="1"/>
          </p:cNvPicPr>
          <p:nvPr/>
        </p:nvPicPr>
        <p:blipFill>
          <a:blip r:embed="rId3"/>
          <a:stretch>
            <a:fillRect/>
          </a:stretch>
        </p:blipFill>
        <p:spPr>
          <a:xfrm>
            <a:off x="6256865" y="783166"/>
            <a:ext cx="5291667" cy="5291667"/>
          </a:xfrm>
          <a:prstGeom prst="rect">
            <a:avLst/>
          </a:prstGeom>
        </p:spPr>
      </p:pic>
      <p:sp>
        <p:nvSpPr>
          <p:cNvPr id="2" name="Up-down Arrow 1">
            <a:extLst>
              <a:ext uri="{FF2B5EF4-FFF2-40B4-BE49-F238E27FC236}">
                <a16:creationId xmlns:a16="http://schemas.microsoft.com/office/drawing/2014/main" id="{64DB6814-3A38-365E-D4C8-707E8AF4B6D6}"/>
              </a:ext>
            </a:extLst>
          </p:cNvPr>
          <p:cNvSpPr/>
          <p:nvPr/>
        </p:nvSpPr>
        <p:spPr>
          <a:xfrm>
            <a:off x="3795823" y="1105786"/>
            <a:ext cx="829340" cy="4540102"/>
          </a:xfrm>
          <a:prstGeom prst="up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Up-down Arrow 2">
            <a:extLst>
              <a:ext uri="{FF2B5EF4-FFF2-40B4-BE49-F238E27FC236}">
                <a16:creationId xmlns:a16="http://schemas.microsoft.com/office/drawing/2014/main" id="{5EF869F2-6D25-E3B4-6746-21EE944B7567}"/>
              </a:ext>
            </a:extLst>
          </p:cNvPr>
          <p:cNvSpPr/>
          <p:nvPr/>
        </p:nvSpPr>
        <p:spPr>
          <a:xfrm>
            <a:off x="9583479" y="1105786"/>
            <a:ext cx="829340" cy="2052084"/>
          </a:xfrm>
          <a:prstGeom prst="up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spTree>
    <p:extLst>
      <p:ext uri="{BB962C8B-B14F-4D97-AF65-F5344CB8AC3E}">
        <p14:creationId xmlns:p14="http://schemas.microsoft.com/office/powerpoint/2010/main" val="2915336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394A849B-77CA-AA90-F852-ECA54388B7E7}"/>
              </a:ext>
            </a:extLst>
          </p:cNvPr>
          <p:cNvCxnSpPr>
            <a:cxnSpLocks/>
          </p:cNvCxnSpPr>
          <p:nvPr/>
        </p:nvCxnSpPr>
        <p:spPr>
          <a:xfrm>
            <a:off x="2781518" y="3429000"/>
            <a:ext cx="5967068" cy="0"/>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CC30A2D-6785-B125-B352-20B25C1EE537}"/>
              </a:ext>
            </a:extLst>
          </p:cNvPr>
          <p:cNvSpPr txBox="1"/>
          <p:nvPr/>
        </p:nvSpPr>
        <p:spPr>
          <a:xfrm>
            <a:off x="1803092" y="3244334"/>
            <a:ext cx="731290" cy="369332"/>
          </a:xfrm>
          <a:prstGeom prst="rect">
            <a:avLst/>
          </a:prstGeom>
          <a:noFill/>
        </p:spPr>
        <p:txBody>
          <a:bodyPr wrap="none" rtlCol="0">
            <a:spAutoFit/>
          </a:bodyPr>
          <a:lstStyle/>
          <a:p>
            <a:r>
              <a:rPr lang="en-FI" dirty="0"/>
              <a:t>Good</a:t>
            </a:r>
          </a:p>
        </p:txBody>
      </p:sp>
      <p:sp>
        <p:nvSpPr>
          <p:cNvPr id="7" name="TextBox 6">
            <a:extLst>
              <a:ext uri="{FF2B5EF4-FFF2-40B4-BE49-F238E27FC236}">
                <a16:creationId xmlns:a16="http://schemas.microsoft.com/office/drawing/2014/main" id="{2C7A1EFE-D2AE-B849-DDD7-998910E67A38}"/>
              </a:ext>
            </a:extLst>
          </p:cNvPr>
          <p:cNvSpPr txBox="1"/>
          <p:nvPr/>
        </p:nvSpPr>
        <p:spPr>
          <a:xfrm>
            <a:off x="8995722" y="3244334"/>
            <a:ext cx="531492" cy="369332"/>
          </a:xfrm>
          <a:prstGeom prst="rect">
            <a:avLst/>
          </a:prstGeom>
          <a:noFill/>
        </p:spPr>
        <p:txBody>
          <a:bodyPr wrap="none" rtlCol="0">
            <a:spAutoFit/>
          </a:bodyPr>
          <a:lstStyle/>
          <a:p>
            <a:r>
              <a:rPr lang="en-FI" dirty="0"/>
              <a:t>Evil</a:t>
            </a:r>
          </a:p>
        </p:txBody>
      </p:sp>
      <p:sp>
        <p:nvSpPr>
          <p:cNvPr id="9" name="TextBox 8">
            <a:extLst>
              <a:ext uri="{FF2B5EF4-FFF2-40B4-BE49-F238E27FC236}">
                <a16:creationId xmlns:a16="http://schemas.microsoft.com/office/drawing/2014/main" id="{382BC40C-8C26-CC95-E892-2F9039C535CD}"/>
              </a:ext>
            </a:extLst>
          </p:cNvPr>
          <p:cNvSpPr txBox="1"/>
          <p:nvPr/>
        </p:nvSpPr>
        <p:spPr>
          <a:xfrm rot="16200000">
            <a:off x="7749546" y="2410740"/>
            <a:ext cx="1297856" cy="369332"/>
          </a:xfrm>
          <a:prstGeom prst="rect">
            <a:avLst/>
          </a:prstGeom>
          <a:noFill/>
        </p:spPr>
        <p:txBody>
          <a:bodyPr wrap="none" rtlCol="0">
            <a:spAutoFit/>
          </a:bodyPr>
          <a:lstStyle/>
          <a:p>
            <a:r>
              <a:rPr lang="en-FI" dirty="0"/>
              <a:t>Consultant</a:t>
            </a:r>
          </a:p>
        </p:txBody>
      </p:sp>
      <p:sp>
        <p:nvSpPr>
          <p:cNvPr id="10" name="TextBox 9">
            <a:extLst>
              <a:ext uri="{FF2B5EF4-FFF2-40B4-BE49-F238E27FC236}">
                <a16:creationId xmlns:a16="http://schemas.microsoft.com/office/drawing/2014/main" id="{E3E4D829-B930-2A12-A1BF-C7E1A9DCBA54}"/>
              </a:ext>
            </a:extLst>
          </p:cNvPr>
          <p:cNvSpPr txBox="1"/>
          <p:nvPr/>
        </p:nvSpPr>
        <p:spPr>
          <a:xfrm rot="16200000">
            <a:off x="7423751" y="2682193"/>
            <a:ext cx="754950" cy="369332"/>
          </a:xfrm>
          <a:prstGeom prst="rect">
            <a:avLst/>
          </a:prstGeom>
          <a:noFill/>
        </p:spPr>
        <p:txBody>
          <a:bodyPr wrap="none" rtlCol="0">
            <a:spAutoFit/>
          </a:bodyPr>
          <a:lstStyle/>
          <a:p>
            <a:r>
              <a:rPr lang="en-FI" dirty="0"/>
              <a:t>Priest</a:t>
            </a:r>
          </a:p>
        </p:txBody>
      </p:sp>
      <p:sp>
        <p:nvSpPr>
          <p:cNvPr id="11" name="TextBox 10">
            <a:extLst>
              <a:ext uri="{FF2B5EF4-FFF2-40B4-BE49-F238E27FC236}">
                <a16:creationId xmlns:a16="http://schemas.microsoft.com/office/drawing/2014/main" id="{5A5D29CE-653B-57D6-58C3-12619896DFDD}"/>
              </a:ext>
            </a:extLst>
          </p:cNvPr>
          <p:cNvSpPr txBox="1"/>
          <p:nvPr/>
        </p:nvSpPr>
        <p:spPr>
          <a:xfrm rot="16200000">
            <a:off x="6773693" y="2525034"/>
            <a:ext cx="1069267" cy="369332"/>
          </a:xfrm>
          <a:prstGeom prst="rect">
            <a:avLst/>
          </a:prstGeom>
          <a:noFill/>
        </p:spPr>
        <p:txBody>
          <a:bodyPr wrap="none" rtlCol="0">
            <a:spAutoFit/>
          </a:bodyPr>
          <a:lstStyle/>
          <a:p>
            <a:r>
              <a:rPr lang="en-FI" dirty="0"/>
              <a:t>Marketer</a:t>
            </a:r>
          </a:p>
        </p:txBody>
      </p:sp>
      <p:sp>
        <p:nvSpPr>
          <p:cNvPr id="12" name="TextBox 11">
            <a:extLst>
              <a:ext uri="{FF2B5EF4-FFF2-40B4-BE49-F238E27FC236}">
                <a16:creationId xmlns:a16="http://schemas.microsoft.com/office/drawing/2014/main" id="{932B783F-6BD7-7F5B-5610-C7C1A861C630}"/>
              </a:ext>
            </a:extLst>
          </p:cNvPr>
          <p:cNvSpPr txBox="1"/>
          <p:nvPr/>
        </p:nvSpPr>
        <p:spPr>
          <a:xfrm rot="16200000">
            <a:off x="6375594" y="2619836"/>
            <a:ext cx="879664" cy="369332"/>
          </a:xfrm>
          <a:prstGeom prst="rect">
            <a:avLst/>
          </a:prstGeom>
          <a:noFill/>
        </p:spPr>
        <p:txBody>
          <a:bodyPr wrap="none" rtlCol="0">
            <a:spAutoFit/>
          </a:bodyPr>
          <a:lstStyle/>
          <a:p>
            <a:r>
              <a:rPr lang="en-FI" dirty="0"/>
              <a:t>Banker</a:t>
            </a:r>
          </a:p>
        </p:txBody>
      </p:sp>
      <p:sp>
        <p:nvSpPr>
          <p:cNvPr id="13" name="TextBox 12">
            <a:extLst>
              <a:ext uri="{FF2B5EF4-FFF2-40B4-BE49-F238E27FC236}">
                <a16:creationId xmlns:a16="http://schemas.microsoft.com/office/drawing/2014/main" id="{4D84624F-5BC7-4953-5710-F72F8C9DC0F2}"/>
              </a:ext>
            </a:extLst>
          </p:cNvPr>
          <p:cNvSpPr txBox="1"/>
          <p:nvPr/>
        </p:nvSpPr>
        <p:spPr>
          <a:xfrm rot="16200000">
            <a:off x="5861548" y="2629998"/>
            <a:ext cx="899990" cy="369332"/>
          </a:xfrm>
          <a:prstGeom prst="rect">
            <a:avLst/>
          </a:prstGeom>
          <a:noFill/>
        </p:spPr>
        <p:txBody>
          <a:bodyPr wrap="none" rtlCol="0">
            <a:spAutoFit/>
          </a:bodyPr>
          <a:lstStyle/>
          <a:p>
            <a:r>
              <a:rPr lang="en-FI" dirty="0"/>
              <a:t>Farmer</a:t>
            </a:r>
          </a:p>
        </p:txBody>
      </p:sp>
      <p:sp>
        <p:nvSpPr>
          <p:cNvPr id="14" name="TextBox 13">
            <a:extLst>
              <a:ext uri="{FF2B5EF4-FFF2-40B4-BE49-F238E27FC236}">
                <a16:creationId xmlns:a16="http://schemas.microsoft.com/office/drawing/2014/main" id="{E2FCF1A4-180A-EA4A-3613-A156BB7D4710}"/>
              </a:ext>
            </a:extLst>
          </p:cNvPr>
          <p:cNvSpPr txBox="1"/>
          <p:nvPr/>
        </p:nvSpPr>
        <p:spPr>
          <a:xfrm rot="16200000">
            <a:off x="5212176" y="2543276"/>
            <a:ext cx="1105752" cy="369332"/>
          </a:xfrm>
          <a:prstGeom prst="rect">
            <a:avLst/>
          </a:prstGeom>
          <a:noFill/>
        </p:spPr>
        <p:txBody>
          <a:bodyPr wrap="none" rtlCol="0">
            <a:spAutoFit/>
          </a:bodyPr>
          <a:lstStyle/>
          <a:p>
            <a:r>
              <a:rPr lang="en-FI" dirty="0"/>
              <a:t>Politician</a:t>
            </a:r>
          </a:p>
        </p:txBody>
      </p:sp>
      <p:sp>
        <p:nvSpPr>
          <p:cNvPr id="15" name="TextBox 14">
            <a:extLst>
              <a:ext uri="{FF2B5EF4-FFF2-40B4-BE49-F238E27FC236}">
                <a16:creationId xmlns:a16="http://schemas.microsoft.com/office/drawing/2014/main" id="{FB144E73-DC90-FDE5-82B1-EB89D1172A72}"/>
              </a:ext>
            </a:extLst>
          </p:cNvPr>
          <p:cNvSpPr txBox="1"/>
          <p:nvPr/>
        </p:nvSpPr>
        <p:spPr>
          <a:xfrm rot="16200000">
            <a:off x="4776517" y="2611500"/>
            <a:ext cx="969304" cy="369332"/>
          </a:xfrm>
          <a:prstGeom prst="rect">
            <a:avLst/>
          </a:prstGeom>
          <a:noFill/>
        </p:spPr>
        <p:txBody>
          <a:bodyPr wrap="none" rtlCol="0">
            <a:spAutoFit/>
          </a:bodyPr>
          <a:lstStyle/>
          <a:p>
            <a:r>
              <a:rPr lang="en-FI" dirty="0"/>
              <a:t>Teacher</a:t>
            </a:r>
          </a:p>
        </p:txBody>
      </p:sp>
      <p:sp>
        <p:nvSpPr>
          <p:cNvPr id="16" name="TextBox 15">
            <a:extLst>
              <a:ext uri="{FF2B5EF4-FFF2-40B4-BE49-F238E27FC236}">
                <a16:creationId xmlns:a16="http://schemas.microsoft.com/office/drawing/2014/main" id="{4EE17E0C-E203-E0AB-7789-E433AE5EF70D}"/>
              </a:ext>
            </a:extLst>
          </p:cNvPr>
          <p:cNvSpPr txBox="1"/>
          <p:nvPr/>
        </p:nvSpPr>
        <p:spPr>
          <a:xfrm rot="16200000">
            <a:off x="2761950" y="2613103"/>
            <a:ext cx="893130" cy="369332"/>
          </a:xfrm>
          <a:prstGeom prst="rect">
            <a:avLst/>
          </a:prstGeom>
          <a:noFill/>
        </p:spPr>
        <p:txBody>
          <a:bodyPr wrap="none" rtlCol="0">
            <a:spAutoFit/>
          </a:bodyPr>
          <a:lstStyle/>
          <a:p>
            <a:r>
              <a:rPr lang="en-FI" dirty="0"/>
              <a:t>Worker</a:t>
            </a:r>
          </a:p>
        </p:txBody>
      </p:sp>
    </p:spTree>
    <p:extLst>
      <p:ext uri="{BB962C8B-B14F-4D97-AF65-F5344CB8AC3E}">
        <p14:creationId xmlns:p14="http://schemas.microsoft.com/office/powerpoint/2010/main" val="597720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B2FB-2E0C-1503-5BF8-4C11B1CE2DD0}"/>
            </a:ext>
          </a:extLst>
        </p:cNvPr>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9F9646E2-2A80-AEC6-93C9-36297A79290B}"/>
              </a:ext>
            </a:extLst>
          </p:cNvPr>
          <p:cNvCxnSpPr>
            <a:cxnSpLocks/>
          </p:cNvCxnSpPr>
          <p:nvPr/>
        </p:nvCxnSpPr>
        <p:spPr>
          <a:xfrm>
            <a:off x="2781518" y="3429000"/>
            <a:ext cx="5967068" cy="0"/>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CF93EA6-FA85-6C8A-9360-16494177C43A}"/>
              </a:ext>
            </a:extLst>
          </p:cNvPr>
          <p:cNvSpPr txBox="1"/>
          <p:nvPr/>
        </p:nvSpPr>
        <p:spPr>
          <a:xfrm>
            <a:off x="1803092" y="3244334"/>
            <a:ext cx="731290" cy="369332"/>
          </a:xfrm>
          <a:prstGeom prst="rect">
            <a:avLst/>
          </a:prstGeom>
          <a:noFill/>
        </p:spPr>
        <p:txBody>
          <a:bodyPr wrap="none" rtlCol="0">
            <a:spAutoFit/>
          </a:bodyPr>
          <a:lstStyle/>
          <a:p>
            <a:r>
              <a:rPr lang="en-FI" dirty="0"/>
              <a:t>Good</a:t>
            </a:r>
          </a:p>
        </p:txBody>
      </p:sp>
      <p:sp>
        <p:nvSpPr>
          <p:cNvPr id="7" name="TextBox 6">
            <a:extLst>
              <a:ext uri="{FF2B5EF4-FFF2-40B4-BE49-F238E27FC236}">
                <a16:creationId xmlns:a16="http://schemas.microsoft.com/office/drawing/2014/main" id="{BE9CA5F2-980C-07E1-8403-6319B3DA16DD}"/>
              </a:ext>
            </a:extLst>
          </p:cNvPr>
          <p:cNvSpPr txBox="1"/>
          <p:nvPr/>
        </p:nvSpPr>
        <p:spPr>
          <a:xfrm>
            <a:off x="8995722" y="3244334"/>
            <a:ext cx="531492" cy="369332"/>
          </a:xfrm>
          <a:prstGeom prst="rect">
            <a:avLst/>
          </a:prstGeom>
          <a:noFill/>
        </p:spPr>
        <p:txBody>
          <a:bodyPr wrap="none" rtlCol="0">
            <a:spAutoFit/>
          </a:bodyPr>
          <a:lstStyle/>
          <a:p>
            <a:r>
              <a:rPr lang="en-FI" dirty="0"/>
              <a:t>Evil</a:t>
            </a:r>
          </a:p>
        </p:txBody>
      </p:sp>
      <p:sp>
        <p:nvSpPr>
          <p:cNvPr id="9" name="TextBox 8">
            <a:extLst>
              <a:ext uri="{FF2B5EF4-FFF2-40B4-BE49-F238E27FC236}">
                <a16:creationId xmlns:a16="http://schemas.microsoft.com/office/drawing/2014/main" id="{2F5E115E-1F2D-46E2-8E04-D3145A46CADE}"/>
              </a:ext>
            </a:extLst>
          </p:cNvPr>
          <p:cNvSpPr txBox="1"/>
          <p:nvPr/>
        </p:nvSpPr>
        <p:spPr>
          <a:xfrm rot="16200000">
            <a:off x="4472153" y="3918598"/>
            <a:ext cx="1297856" cy="369332"/>
          </a:xfrm>
          <a:prstGeom prst="rect">
            <a:avLst/>
          </a:prstGeom>
          <a:noFill/>
        </p:spPr>
        <p:txBody>
          <a:bodyPr wrap="none" rtlCol="0">
            <a:spAutoFit/>
          </a:bodyPr>
          <a:lstStyle/>
          <a:p>
            <a:r>
              <a:rPr lang="en-FI" dirty="0"/>
              <a:t>Consultant</a:t>
            </a:r>
          </a:p>
        </p:txBody>
      </p:sp>
      <p:sp>
        <p:nvSpPr>
          <p:cNvPr id="10" name="TextBox 9">
            <a:extLst>
              <a:ext uri="{FF2B5EF4-FFF2-40B4-BE49-F238E27FC236}">
                <a16:creationId xmlns:a16="http://schemas.microsoft.com/office/drawing/2014/main" id="{4BA03002-B95E-A4B5-3D8D-CF8602F8142B}"/>
              </a:ext>
            </a:extLst>
          </p:cNvPr>
          <p:cNvSpPr txBox="1"/>
          <p:nvPr/>
        </p:nvSpPr>
        <p:spPr>
          <a:xfrm rot="16200000">
            <a:off x="7423751" y="4053796"/>
            <a:ext cx="754950" cy="369332"/>
          </a:xfrm>
          <a:prstGeom prst="rect">
            <a:avLst/>
          </a:prstGeom>
          <a:noFill/>
        </p:spPr>
        <p:txBody>
          <a:bodyPr wrap="none" rtlCol="0">
            <a:spAutoFit/>
          </a:bodyPr>
          <a:lstStyle/>
          <a:p>
            <a:r>
              <a:rPr lang="en-FI" dirty="0"/>
              <a:t>Priest</a:t>
            </a:r>
          </a:p>
        </p:txBody>
      </p:sp>
      <p:sp>
        <p:nvSpPr>
          <p:cNvPr id="11" name="TextBox 10">
            <a:extLst>
              <a:ext uri="{FF2B5EF4-FFF2-40B4-BE49-F238E27FC236}">
                <a16:creationId xmlns:a16="http://schemas.microsoft.com/office/drawing/2014/main" id="{557AF3E2-9174-D0C3-AE3B-AE2F09B328DC}"/>
              </a:ext>
            </a:extLst>
          </p:cNvPr>
          <p:cNvSpPr txBox="1"/>
          <p:nvPr/>
        </p:nvSpPr>
        <p:spPr>
          <a:xfrm rot="16200000">
            <a:off x="5518100" y="3988971"/>
            <a:ext cx="1069267" cy="369332"/>
          </a:xfrm>
          <a:prstGeom prst="rect">
            <a:avLst/>
          </a:prstGeom>
          <a:noFill/>
        </p:spPr>
        <p:txBody>
          <a:bodyPr wrap="none" rtlCol="0">
            <a:spAutoFit/>
          </a:bodyPr>
          <a:lstStyle/>
          <a:p>
            <a:r>
              <a:rPr lang="en-FI" dirty="0"/>
              <a:t>Marketer</a:t>
            </a:r>
          </a:p>
        </p:txBody>
      </p:sp>
      <p:sp>
        <p:nvSpPr>
          <p:cNvPr id="12" name="TextBox 11">
            <a:extLst>
              <a:ext uri="{FF2B5EF4-FFF2-40B4-BE49-F238E27FC236}">
                <a16:creationId xmlns:a16="http://schemas.microsoft.com/office/drawing/2014/main" id="{8B22A5B4-09BC-5FEE-EBB1-E2544014639B}"/>
              </a:ext>
            </a:extLst>
          </p:cNvPr>
          <p:cNvSpPr txBox="1"/>
          <p:nvPr/>
        </p:nvSpPr>
        <p:spPr>
          <a:xfrm rot="16200000">
            <a:off x="6832453" y="4027923"/>
            <a:ext cx="879664" cy="369332"/>
          </a:xfrm>
          <a:prstGeom prst="rect">
            <a:avLst/>
          </a:prstGeom>
          <a:noFill/>
        </p:spPr>
        <p:txBody>
          <a:bodyPr wrap="none" rtlCol="0">
            <a:spAutoFit/>
          </a:bodyPr>
          <a:lstStyle/>
          <a:p>
            <a:r>
              <a:rPr lang="en-FI" dirty="0"/>
              <a:t>Banker</a:t>
            </a:r>
          </a:p>
        </p:txBody>
      </p:sp>
      <p:sp>
        <p:nvSpPr>
          <p:cNvPr id="13" name="TextBox 12">
            <a:extLst>
              <a:ext uri="{FF2B5EF4-FFF2-40B4-BE49-F238E27FC236}">
                <a16:creationId xmlns:a16="http://schemas.microsoft.com/office/drawing/2014/main" id="{FE599164-1D72-D480-334C-8F46F926F580}"/>
              </a:ext>
            </a:extLst>
          </p:cNvPr>
          <p:cNvSpPr txBox="1"/>
          <p:nvPr/>
        </p:nvSpPr>
        <p:spPr>
          <a:xfrm rot="16200000">
            <a:off x="6212514" y="4053795"/>
            <a:ext cx="899990" cy="369332"/>
          </a:xfrm>
          <a:prstGeom prst="rect">
            <a:avLst/>
          </a:prstGeom>
          <a:noFill/>
        </p:spPr>
        <p:txBody>
          <a:bodyPr wrap="none" rtlCol="0">
            <a:spAutoFit/>
          </a:bodyPr>
          <a:lstStyle/>
          <a:p>
            <a:r>
              <a:rPr lang="en-FI" dirty="0"/>
              <a:t>Farmer</a:t>
            </a:r>
          </a:p>
        </p:txBody>
      </p:sp>
      <p:sp>
        <p:nvSpPr>
          <p:cNvPr id="14" name="TextBox 13">
            <a:extLst>
              <a:ext uri="{FF2B5EF4-FFF2-40B4-BE49-F238E27FC236}">
                <a16:creationId xmlns:a16="http://schemas.microsoft.com/office/drawing/2014/main" id="{48811255-21C7-04BE-878F-49CAEAE7B307}"/>
              </a:ext>
            </a:extLst>
          </p:cNvPr>
          <p:cNvSpPr txBox="1"/>
          <p:nvPr/>
        </p:nvSpPr>
        <p:spPr>
          <a:xfrm rot="16200000">
            <a:off x="3493977" y="3918598"/>
            <a:ext cx="1105752" cy="369332"/>
          </a:xfrm>
          <a:prstGeom prst="rect">
            <a:avLst/>
          </a:prstGeom>
          <a:noFill/>
        </p:spPr>
        <p:txBody>
          <a:bodyPr wrap="none" rtlCol="0">
            <a:spAutoFit/>
          </a:bodyPr>
          <a:lstStyle/>
          <a:p>
            <a:r>
              <a:rPr lang="en-FI" dirty="0"/>
              <a:t>Politician</a:t>
            </a:r>
          </a:p>
        </p:txBody>
      </p:sp>
      <p:sp>
        <p:nvSpPr>
          <p:cNvPr id="15" name="TextBox 14">
            <a:extLst>
              <a:ext uri="{FF2B5EF4-FFF2-40B4-BE49-F238E27FC236}">
                <a16:creationId xmlns:a16="http://schemas.microsoft.com/office/drawing/2014/main" id="{7C183120-C9D0-16C9-43DA-50CE8F516238}"/>
              </a:ext>
            </a:extLst>
          </p:cNvPr>
          <p:cNvSpPr txBox="1"/>
          <p:nvPr/>
        </p:nvSpPr>
        <p:spPr>
          <a:xfrm rot="16200000">
            <a:off x="5126028" y="4036257"/>
            <a:ext cx="969304" cy="369332"/>
          </a:xfrm>
          <a:prstGeom prst="rect">
            <a:avLst/>
          </a:prstGeom>
          <a:noFill/>
        </p:spPr>
        <p:txBody>
          <a:bodyPr wrap="none" rtlCol="0">
            <a:spAutoFit/>
          </a:bodyPr>
          <a:lstStyle/>
          <a:p>
            <a:r>
              <a:rPr lang="en-FI" dirty="0"/>
              <a:t>Teacher</a:t>
            </a:r>
          </a:p>
        </p:txBody>
      </p:sp>
      <p:sp>
        <p:nvSpPr>
          <p:cNvPr id="16" name="TextBox 15">
            <a:extLst>
              <a:ext uri="{FF2B5EF4-FFF2-40B4-BE49-F238E27FC236}">
                <a16:creationId xmlns:a16="http://schemas.microsoft.com/office/drawing/2014/main" id="{21042A73-4458-7033-BC3A-39F5DD585DF0}"/>
              </a:ext>
            </a:extLst>
          </p:cNvPr>
          <p:cNvSpPr txBox="1"/>
          <p:nvPr/>
        </p:nvSpPr>
        <p:spPr>
          <a:xfrm rot="16200000">
            <a:off x="7786463" y="3998170"/>
            <a:ext cx="893130" cy="369332"/>
          </a:xfrm>
          <a:prstGeom prst="rect">
            <a:avLst/>
          </a:prstGeom>
          <a:noFill/>
        </p:spPr>
        <p:txBody>
          <a:bodyPr wrap="none" rtlCol="0">
            <a:spAutoFit/>
          </a:bodyPr>
          <a:lstStyle/>
          <a:p>
            <a:r>
              <a:rPr lang="en-FI" dirty="0"/>
              <a:t>Worker</a:t>
            </a:r>
          </a:p>
        </p:txBody>
      </p:sp>
    </p:spTree>
    <p:extLst>
      <p:ext uri="{BB962C8B-B14F-4D97-AF65-F5344CB8AC3E}">
        <p14:creationId xmlns:p14="http://schemas.microsoft.com/office/powerpoint/2010/main" val="2697692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6356-FC92-868B-ACE6-D8454823047B}"/>
            </a:ext>
          </a:extLst>
        </p:cNvPr>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0C7EF505-72E1-DABF-BBAA-EFAD04D3B9E5}"/>
              </a:ext>
            </a:extLst>
          </p:cNvPr>
          <p:cNvCxnSpPr>
            <a:cxnSpLocks/>
          </p:cNvCxnSpPr>
          <p:nvPr/>
        </p:nvCxnSpPr>
        <p:spPr>
          <a:xfrm>
            <a:off x="2781518" y="3429000"/>
            <a:ext cx="5967068" cy="0"/>
          </a:xfrm>
          <a:prstGeom prst="straightConnector1">
            <a:avLst/>
          </a:prstGeom>
          <a:ln>
            <a:headEnd type="oval"/>
            <a:tailEnd type="ova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C1E632E-3ABD-32D9-6B09-929DFF9AC60F}"/>
              </a:ext>
            </a:extLst>
          </p:cNvPr>
          <p:cNvSpPr txBox="1"/>
          <p:nvPr/>
        </p:nvSpPr>
        <p:spPr>
          <a:xfrm>
            <a:off x="1803092" y="3244334"/>
            <a:ext cx="731290" cy="369332"/>
          </a:xfrm>
          <a:prstGeom prst="rect">
            <a:avLst/>
          </a:prstGeom>
          <a:noFill/>
        </p:spPr>
        <p:txBody>
          <a:bodyPr wrap="none" rtlCol="0">
            <a:spAutoFit/>
          </a:bodyPr>
          <a:lstStyle/>
          <a:p>
            <a:r>
              <a:rPr lang="en-FI" dirty="0"/>
              <a:t>Good</a:t>
            </a:r>
          </a:p>
        </p:txBody>
      </p:sp>
      <p:sp>
        <p:nvSpPr>
          <p:cNvPr id="7" name="TextBox 6">
            <a:extLst>
              <a:ext uri="{FF2B5EF4-FFF2-40B4-BE49-F238E27FC236}">
                <a16:creationId xmlns:a16="http://schemas.microsoft.com/office/drawing/2014/main" id="{4DA05CBD-49E2-35ED-DA9A-D382BF3BBCD9}"/>
              </a:ext>
            </a:extLst>
          </p:cNvPr>
          <p:cNvSpPr txBox="1"/>
          <p:nvPr/>
        </p:nvSpPr>
        <p:spPr>
          <a:xfrm>
            <a:off x="8995722" y="3244334"/>
            <a:ext cx="531492" cy="369332"/>
          </a:xfrm>
          <a:prstGeom prst="rect">
            <a:avLst/>
          </a:prstGeom>
          <a:noFill/>
        </p:spPr>
        <p:txBody>
          <a:bodyPr wrap="none" rtlCol="0">
            <a:spAutoFit/>
          </a:bodyPr>
          <a:lstStyle/>
          <a:p>
            <a:r>
              <a:rPr lang="en-FI" dirty="0"/>
              <a:t>Evil</a:t>
            </a:r>
          </a:p>
        </p:txBody>
      </p:sp>
      <p:sp>
        <p:nvSpPr>
          <p:cNvPr id="9" name="TextBox 8">
            <a:extLst>
              <a:ext uri="{FF2B5EF4-FFF2-40B4-BE49-F238E27FC236}">
                <a16:creationId xmlns:a16="http://schemas.microsoft.com/office/drawing/2014/main" id="{C48BF6A4-76D6-E47D-57C7-E081F509860A}"/>
              </a:ext>
            </a:extLst>
          </p:cNvPr>
          <p:cNvSpPr txBox="1"/>
          <p:nvPr/>
        </p:nvSpPr>
        <p:spPr>
          <a:xfrm rot="16200000">
            <a:off x="4472153" y="3918598"/>
            <a:ext cx="1297856" cy="369332"/>
          </a:xfrm>
          <a:prstGeom prst="rect">
            <a:avLst/>
          </a:prstGeom>
          <a:noFill/>
        </p:spPr>
        <p:txBody>
          <a:bodyPr wrap="none" rtlCol="0">
            <a:spAutoFit/>
          </a:bodyPr>
          <a:lstStyle/>
          <a:p>
            <a:r>
              <a:rPr lang="en-FI" dirty="0"/>
              <a:t>Consultant</a:t>
            </a:r>
          </a:p>
        </p:txBody>
      </p:sp>
      <p:sp>
        <p:nvSpPr>
          <p:cNvPr id="10" name="TextBox 9">
            <a:extLst>
              <a:ext uri="{FF2B5EF4-FFF2-40B4-BE49-F238E27FC236}">
                <a16:creationId xmlns:a16="http://schemas.microsoft.com/office/drawing/2014/main" id="{14F39F32-D668-B408-D944-0BE9341D0D58}"/>
              </a:ext>
            </a:extLst>
          </p:cNvPr>
          <p:cNvSpPr txBox="1"/>
          <p:nvPr/>
        </p:nvSpPr>
        <p:spPr>
          <a:xfrm rot="16200000">
            <a:off x="7423751" y="4053796"/>
            <a:ext cx="754950" cy="369332"/>
          </a:xfrm>
          <a:prstGeom prst="rect">
            <a:avLst/>
          </a:prstGeom>
          <a:noFill/>
        </p:spPr>
        <p:txBody>
          <a:bodyPr wrap="none" rtlCol="0">
            <a:spAutoFit/>
          </a:bodyPr>
          <a:lstStyle/>
          <a:p>
            <a:r>
              <a:rPr lang="en-FI" dirty="0"/>
              <a:t>Priest</a:t>
            </a:r>
          </a:p>
        </p:txBody>
      </p:sp>
      <p:sp>
        <p:nvSpPr>
          <p:cNvPr id="11" name="TextBox 10">
            <a:extLst>
              <a:ext uri="{FF2B5EF4-FFF2-40B4-BE49-F238E27FC236}">
                <a16:creationId xmlns:a16="http://schemas.microsoft.com/office/drawing/2014/main" id="{9A99A140-CDD8-4560-6DD2-F324C4820AE2}"/>
              </a:ext>
            </a:extLst>
          </p:cNvPr>
          <p:cNvSpPr txBox="1"/>
          <p:nvPr/>
        </p:nvSpPr>
        <p:spPr>
          <a:xfrm rot="16200000">
            <a:off x="5518100" y="3988971"/>
            <a:ext cx="1069267" cy="369332"/>
          </a:xfrm>
          <a:prstGeom prst="rect">
            <a:avLst/>
          </a:prstGeom>
          <a:noFill/>
        </p:spPr>
        <p:txBody>
          <a:bodyPr wrap="none" rtlCol="0">
            <a:spAutoFit/>
          </a:bodyPr>
          <a:lstStyle/>
          <a:p>
            <a:r>
              <a:rPr lang="en-FI" dirty="0"/>
              <a:t>Marketer</a:t>
            </a:r>
          </a:p>
        </p:txBody>
      </p:sp>
      <p:sp>
        <p:nvSpPr>
          <p:cNvPr id="12" name="TextBox 11">
            <a:extLst>
              <a:ext uri="{FF2B5EF4-FFF2-40B4-BE49-F238E27FC236}">
                <a16:creationId xmlns:a16="http://schemas.microsoft.com/office/drawing/2014/main" id="{B65D791D-12BA-02AB-A13F-27965FD2ADA2}"/>
              </a:ext>
            </a:extLst>
          </p:cNvPr>
          <p:cNvSpPr txBox="1"/>
          <p:nvPr/>
        </p:nvSpPr>
        <p:spPr>
          <a:xfrm rot="16200000">
            <a:off x="6832453" y="4027923"/>
            <a:ext cx="879664" cy="369332"/>
          </a:xfrm>
          <a:prstGeom prst="rect">
            <a:avLst/>
          </a:prstGeom>
          <a:noFill/>
        </p:spPr>
        <p:txBody>
          <a:bodyPr wrap="none" rtlCol="0">
            <a:spAutoFit/>
          </a:bodyPr>
          <a:lstStyle/>
          <a:p>
            <a:r>
              <a:rPr lang="en-FI" dirty="0"/>
              <a:t>Banker</a:t>
            </a:r>
          </a:p>
        </p:txBody>
      </p:sp>
      <p:sp>
        <p:nvSpPr>
          <p:cNvPr id="13" name="TextBox 12">
            <a:extLst>
              <a:ext uri="{FF2B5EF4-FFF2-40B4-BE49-F238E27FC236}">
                <a16:creationId xmlns:a16="http://schemas.microsoft.com/office/drawing/2014/main" id="{12AD73EA-2832-CB3D-6427-F7933C840A92}"/>
              </a:ext>
            </a:extLst>
          </p:cNvPr>
          <p:cNvSpPr txBox="1"/>
          <p:nvPr/>
        </p:nvSpPr>
        <p:spPr>
          <a:xfrm rot="16200000">
            <a:off x="6212514" y="4053795"/>
            <a:ext cx="899990" cy="369332"/>
          </a:xfrm>
          <a:prstGeom prst="rect">
            <a:avLst/>
          </a:prstGeom>
          <a:noFill/>
        </p:spPr>
        <p:txBody>
          <a:bodyPr wrap="none" rtlCol="0">
            <a:spAutoFit/>
          </a:bodyPr>
          <a:lstStyle/>
          <a:p>
            <a:r>
              <a:rPr lang="en-FI" dirty="0"/>
              <a:t>Farmer</a:t>
            </a:r>
          </a:p>
        </p:txBody>
      </p:sp>
      <p:sp>
        <p:nvSpPr>
          <p:cNvPr id="14" name="TextBox 13">
            <a:extLst>
              <a:ext uri="{FF2B5EF4-FFF2-40B4-BE49-F238E27FC236}">
                <a16:creationId xmlns:a16="http://schemas.microsoft.com/office/drawing/2014/main" id="{DC52069B-941C-10B4-EFEB-220E9610CA9F}"/>
              </a:ext>
            </a:extLst>
          </p:cNvPr>
          <p:cNvSpPr txBox="1"/>
          <p:nvPr/>
        </p:nvSpPr>
        <p:spPr>
          <a:xfrm rot="16200000">
            <a:off x="3493977" y="3918598"/>
            <a:ext cx="1105752" cy="369332"/>
          </a:xfrm>
          <a:prstGeom prst="rect">
            <a:avLst/>
          </a:prstGeom>
          <a:noFill/>
        </p:spPr>
        <p:txBody>
          <a:bodyPr wrap="none" rtlCol="0">
            <a:spAutoFit/>
          </a:bodyPr>
          <a:lstStyle/>
          <a:p>
            <a:r>
              <a:rPr lang="en-FI" dirty="0"/>
              <a:t>Politician</a:t>
            </a:r>
          </a:p>
        </p:txBody>
      </p:sp>
      <p:sp>
        <p:nvSpPr>
          <p:cNvPr id="15" name="TextBox 14">
            <a:extLst>
              <a:ext uri="{FF2B5EF4-FFF2-40B4-BE49-F238E27FC236}">
                <a16:creationId xmlns:a16="http://schemas.microsoft.com/office/drawing/2014/main" id="{3EDBF6BC-0CC6-FF6F-1868-47F0B53797B2}"/>
              </a:ext>
            </a:extLst>
          </p:cNvPr>
          <p:cNvSpPr txBox="1"/>
          <p:nvPr/>
        </p:nvSpPr>
        <p:spPr>
          <a:xfrm rot="16200000">
            <a:off x="5126028" y="4036257"/>
            <a:ext cx="969304" cy="369332"/>
          </a:xfrm>
          <a:prstGeom prst="rect">
            <a:avLst/>
          </a:prstGeom>
          <a:noFill/>
        </p:spPr>
        <p:txBody>
          <a:bodyPr wrap="none" rtlCol="0">
            <a:spAutoFit/>
          </a:bodyPr>
          <a:lstStyle/>
          <a:p>
            <a:r>
              <a:rPr lang="en-FI" dirty="0"/>
              <a:t>Teacher</a:t>
            </a:r>
          </a:p>
        </p:txBody>
      </p:sp>
      <p:sp>
        <p:nvSpPr>
          <p:cNvPr id="16" name="TextBox 15">
            <a:extLst>
              <a:ext uri="{FF2B5EF4-FFF2-40B4-BE49-F238E27FC236}">
                <a16:creationId xmlns:a16="http://schemas.microsoft.com/office/drawing/2014/main" id="{1902B4D2-1A60-F984-3632-D6830FDB9EC7}"/>
              </a:ext>
            </a:extLst>
          </p:cNvPr>
          <p:cNvSpPr txBox="1"/>
          <p:nvPr/>
        </p:nvSpPr>
        <p:spPr>
          <a:xfrm rot="16200000">
            <a:off x="7786463" y="3998170"/>
            <a:ext cx="893130" cy="369332"/>
          </a:xfrm>
          <a:prstGeom prst="rect">
            <a:avLst/>
          </a:prstGeom>
          <a:noFill/>
        </p:spPr>
        <p:txBody>
          <a:bodyPr wrap="none" rtlCol="0">
            <a:spAutoFit/>
          </a:bodyPr>
          <a:lstStyle/>
          <a:p>
            <a:r>
              <a:rPr lang="en-FI" dirty="0"/>
              <a:t>Worker</a:t>
            </a:r>
          </a:p>
        </p:txBody>
      </p:sp>
      <p:sp>
        <p:nvSpPr>
          <p:cNvPr id="8" name="TextBox 7">
            <a:extLst>
              <a:ext uri="{FF2B5EF4-FFF2-40B4-BE49-F238E27FC236}">
                <a16:creationId xmlns:a16="http://schemas.microsoft.com/office/drawing/2014/main" id="{913ACE65-B6E5-3484-8A98-16C1B9E07D3C}"/>
              </a:ext>
            </a:extLst>
          </p:cNvPr>
          <p:cNvSpPr txBox="1"/>
          <p:nvPr/>
        </p:nvSpPr>
        <p:spPr>
          <a:xfrm rot="16200000">
            <a:off x="7749546" y="2410740"/>
            <a:ext cx="1297856" cy="369332"/>
          </a:xfrm>
          <a:prstGeom prst="rect">
            <a:avLst/>
          </a:prstGeom>
          <a:noFill/>
        </p:spPr>
        <p:txBody>
          <a:bodyPr wrap="none" rtlCol="0">
            <a:spAutoFit/>
          </a:bodyPr>
          <a:lstStyle/>
          <a:p>
            <a:r>
              <a:rPr lang="en-FI" dirty="0"/>
              <a:t>Consultant</a:t>
            </a:r>
          </a:p>
        </p:txBody>
      </p:sp>
      <p:sp>
        <p:nvSpPr>
          <p:cNvPr id="17" name="TextBox 16">
            <a:extLst>
              <a:ext uri="{FF2B5EF4-FFF2-40B4-BE49-F238E27FC236}">
                <a16:creationId xmlns:a16="http://schemas.microsoft.com/office/drawing/2014/main" id="{3DFC4B29-19B6-4DFF-8607-87AC92C5D76C}"/>
              </a:ext>
            </a:extLst>
          </p:cNvPr>
          <p:cNvSpPr txBox="1"/>
          <p:nvPr/>
        </p:nvSpPr>
        <p:spPr>
          <a:xfrm rot="16200000">
            <a:off x="7423751" y="2682193"/>
            <a:ext cx="754950" cy="369332"/>
          </a:xfrm>
          <a:prstGeom prst="rect">
            <a:avLst/>
          </a:prstGeom>
          <a:noFill/>
        </p:spPr>
        <p:txBody>
          <a:bodyPr wrap="none" rtlCol="0">
            <a:spAutoFit/>
          </a:bodyPr>
          <a:lstStyle/>
          <a:p>
            <a:r>
              <a:rPr lang="en-FI" dirty="0"/>
              <a:t>Priest</a:t>
            </a:r>
          </a:p>
        </p:txBody>
      </p:sp>
      <p:sp>
        <p:nvSpPr>
          <p:cNvPr id="18" name="TextBox 17">
            <a:extLst>
              <a:ext uri="{FF2B5EF4-FFF2-40B4-BE49-F238E27FC236}">
                <a16:creationId xmlns:a16="http://schemas.microsoft.com/office/drawing/2014/main" id="{5F37367A-3D54-27BC-A844-26E65B3CA4F5}"/>
              </a:ext>
            </a:extLst>
          </p:cNvPr>
          <p:cNvSpPr txBox="1"/>
          <p:nvPr/>
        </p:nvSpPr>
        <p:spPr>
          <a:xfrm rot="16200000">
            <a:off x="6773693" y="2525034"/>
            <a:ext cx="1069267" cy="369332"/>
          </a:xfrm>
          <a:prstGeom prst="rect">
            <a:avLst/>
          </a:prstGeom>
          <a:noFill/>
        </p:spPr>
        <p:txBody>
          <a:bodyPr wrap="none" rtlCol="0">
            <a:spAutoFit/>
          </a:bodyPr>
          <a:lstStyle/>
          <a:p>
            <a:r>
              <a:rPr lang="en-FI" dirty="0"/>
              <a:t>Marketer</a:t>
            </a:r>
          </a:p>
        </p:txBody>
      </p:sp>
      <p:sp>
        <p:nvSpPr>
          <p:cNvPr id="19" name="TextBox 18">
            <a:extLst>
              <a:ext uri="{FF2B5EF4-FFF2-40B4-BE49-F238E27FC236}">
                <a16:creationId xmlns:a16="http://schemas.microsoft.com/office/drawing/2014/main" id="{441DF668-1BC2-80F1-AD7C-A8D70EFB02BF}"/>
              </a:ext>
            </a:extLst>
          </p:cNvPr>
          <p:cNvSpPr txBox="1"/>
          <p:nvPr/>
        </p:nvSpPr>
        <p:spPr>
          <a:xfrm rot="16200000">
            <a:off x="6375594" y="2619836"/>
            <a:ext cx="879664" cy="369332"/>
          </a:xfrm>
          <a:prstGeom prst="rect">
            <a:avLst/>
          </a:prstGeom>
          <a:noFill/>
        </p:spPr>
        <p:txBody>
          <a:bodyPr wrap="none" rtlCol="0">
            <a:spAutoFit/>
          </a:bodyPr>
          <a:lstStyle/>
          <a:p>
            <a:r>
              <a:rPr lang="en-FI" dirty="0"/>
              <a:t>Banker</a:t>
            </a:r>
          </a:p>
        </p:txBody>
      </p:sp>
      <p:sp>
        <p:nvSpPr>
          <p:cNvPr id="20" name="TextBox 19">
            <a:extLst>
              <a:ext uri="{FF2B5EF4-FFF2-40B4-BE49-F238E27FC236}">
                <a16:creationId xmlns:a16="http://schemas.microsoft.com/office/drawing/2014/main" id="{47B39BB8-1E83-CC1B-12CE-1E70DE734BE5}"/>
              </a:ext>
            </a:extLst>
          </p:cNvPr>
          <p:cNvSpPr txBox="1"/>
          <p:nvPr/>
        </p:nvSpPr>
        <p:spPr>
          <a:xfrm rot="16200000">
            <a:off x="5861548" y="2629998"/>
            <a:ext cx="899990" cy="369332"/>
          </a:xfrm>
          <a:prstGeom prst="rect">
            <a:avLst/>
          </a:prstGeom>
          <a:noFill/>
        </p:spPr>
        <p:txBody>
          <a:bodyPr wrap="none" rtlCol="0">
            <a:spAutoFit/>
          </a:bodyPr>
          <a:lstStyle/>
          <a:p>
            <a:r>
              <a:rPr lang="en-FI" dirty="0"/>
              <a:t>Farmer</a:t>
            </a:r>
          </a:p>
        </p:txBody>
      </p:sp>
      <p:sp>
        <p:nvSpPr>
          <p:cNvPr id="21" name="TextBox 20">
            <a:extLst>
              <a:ext uri="{FF2B5EF4-FFF2-40B4-BE49-F238E27FC236}">
                <a16:creationId xmlns:a16="http://schemas.microsoft.com/office/drawing/2014/main" id="{4F850450-CC31-9B68-96C6-DF27B608E9C4}"/>
              </a:ext>
            </a:extLst>
          </p:cNvPr>
          <p:cNvSpPr txBox="1"/>
          <p:nvPr/>
        </p:nvSpPr>
        <p:spPr>
          <a:xfrm rot="16200000">
            <a:off x="5212176" y="2543276"/>
            <a:ext cx="1105752" cy="369332"/>
          </a:xfrm>
          <a:prstGeom prst="rect">
            <a:avLst/>
          </a:prstGeom>
          <a:noFill/>
        </p:spPr>
        <p:txBody>
          <a:bodyPr wrap="none" rtlCol="0">
            <a:spAutoFit/>
          </a:bodyPr>
          <a:lstStyle/>
          <a:p>
            <a:r>
              <a:rPr lang="en-FI" dirty="0"/>
              <a:t>Politician</a:t>
            </a:r>
          </a:p>
        </p:txBody>
      </p:sp>
      <p:sp>
        <p:nvSpPr>
          <p:cNvPr id="22" name="TextBox 21">
            <a:extLst>
              <a:ext uri="{FF2B5EF4-FFF2-40B4-BE49-F238E27FC236}">
                <a16:creationId xmlns:a16="http://schemas.microsoft.com/office/drawing/2014/main" id="{E6C9A537-7146-2896-3DFC-F3C65FEDD1E2}"/>
              </a:ext>
            </a:extLst>
          </p:cNvPr>
          <p:cNvSpPr txBox="1"/>
          <p:nvPr/>
        </p:nvSpPr>
        <p:spPr>
          <a:xfrm rot="16200000">
            <a:off x="4776517" y="2611500"/>
            <a:ext cx="969304" cy="369332"/>
          </a:xfrm>
          <a:prstGeom prst="rect">
            <a:avLst/>
          </a:prstGeom>
          <a:noFill/>
        </p:spPr>
        <p:txBody>
          <a:bodyPr wrap="none" rtlCol="0">
            <a:spAutoFit/>
          </a:bodyPr>
          <a:lstStyle/>
          <a:p>
            <a:r>
              <a:rPr lang="en-FI" dirty="0"/>
              <a:t>Teacher</a:t>
            </a:r>
          </a:p>
        </p:txBody>
      </p:sp>
      <p:sp>
        <p:nvSpPr>
          <p:cNvPr id="23" name="TextBox 22">
            <a:extLst>
              <a:ext uri="{FF2B5EF4-FFF2-40B4-BE49-F238E27FC236}">
                <a16:creationId xmlns:a16="http://schemas.microsoft.com/office/drawing/2014/main" id="{8806EA51-BB30-4D4D-64B0-32A2AC503216}"/>
              </a:ext>
            </a:extLst>
          </p:cNvPr>
          <p:cNvSpPr txBox="1"/>
          <p:nvPr/>
        </p:nvSpPr>
        <p:spPr>
          <a:xfrm rot="16200000">
            <a:off x="2761950" y="2613103"/>
            <a:ext cx="893130" cy="369332"/>
          </a:xfrm>
          <a:prstGeom prst="rect">
            <a:avLst/>
          </a:prstGeom>
          <a:noFill/>
        </p:spPr>
        <p:txBody>
          <a:bodyPr wrap="none" rtlCol="0">
            <a:spAutoFit/>
          </a:bodyPr>
          <a:lstStyle/>
          <a:p>
            <a:r>
              <a:rPr lang="en-FI" dirty="0"/>
              <a:t>Worker</a:t>
            </a:r>
          </a:p>
        </p:txBody>
      </p:sp>
    </p:spTree>
    <p:extLst>
      <p:ext uri="{BB962C8B-B14F-4D97-AF65-F5344CB8AC3E}">
        <p14:creationId xmlns:p14="http://schemas.microsoft.com/office/powerpoint/2010/main" val="750879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8BF59D-00EC-02F8-4A8F-BE7AC1B79C11}"/>
              </a:ext>
            </a:extLst>
          </p:cNvPr>
          <p:cNvPicPr>
            <a:picLocks noGrp="1" noChangeAspect="1"/>
          </p:cNvPicPr>
          <p:nvPr>
            <p:ph idx="1"/>
          </p:nvPr>
        </p:nvPicPr>
        <p:blipFill>
          <a:blip r:embed="rId2"/>
          <a:stretch>
            <a:fillRect/>
          </a:stretch>
        </p:blipFill>
        <p:spPr>
          <a:xfrm>
            <a:off x="643467" y="1441448"/>
            <a:ext cx="5291666" cy="3975103"/>
          </a:xfrm>
          <a:prstGeom prst="rect">
            <a:avLst/>
          </a:prstGeom>
        </p:spPr>
      </p:pic>
      <p:pic>
        <p:nvPicPr>
          <p:cNvPr id="7" name="Picture 6">
            <a:extLst>
              <a:ext uri="{FF2B5EF4-FFF2-40B4-BE49-F238E27FC236}">
                <a16:creationId xmlns:a16="http://schemas.microsoft.com/office/drawing/2014/main" id="{462CB073-7449-23F0-D0F6-63241B6353D5}"/>
              </a:ext>
            </a:extLst>
          </p:cNvPr>
          <p:cNvPicPr>
            <a:picLocks noChangeAspect="1"/>
          </p:cNvPicPr>
          <p:nvPr/>
        </p:nvPicPr>
        <p:blipFill>
          <a:blip r:embed="rId3"/>
          <a:stretch>
            <a:fillRect/>
          </a:stretch>
        </p:blipFill>
        <p:spPr>
          <a:xfrm>
            <a:off x="6256865" y="1441448"/>
            <a:ext cx="5291667" cy="3975104"/>
          </a:xfrm>
          <a:prstGeom prst="rect">
            <a:avLst/>
          </a:prstGeom>
        </p:spPr>
      </p:pic>
    </p:spTree>
    <p:extLst>
      <p:ext uri="{BB962C8B-B14F-4D97-AF65-F5344CB8AC3E}">
        <p14:creationId xmlns:p14="http://schemas.microsoft.com/office/powerpoint/2010/main" val="37974167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D5E9-4416-3B67-A550-57FBF2AAC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1ADCC-FC44-37AC-FCE8-19D917743A29}"/>
              </a:ext>
            </a:extLst>
          </p:cNvPr>
          <p:cNvSpPr>
            <a:spLocks noGrp="1"/>
          </p:cNvSpPr>
          <p:nvPr>
            <p:ph type="title"/>
          </p:nvPr>
        </p:nvSpPr>
        <p:spPr/>
        <p:txBody>
          <a:bodyPr/>
          <a:lstStyle/>
          <a:p>
            <a:r>
              <a:rPr lang="en-FI" dirty="0"/>
              <a:t>For mask fills</a:t>
            </a:r>
          </a:p>
        </p:txBody>
      </p:sp>
      <p:sp>
        <p:nvSpPr>
          <p:cNvPr id="3" name="Content Placeholder 2">
            <a:extLst>
              <a:ext uri="{FF2B5EF4-FFF2-40B4-BE49-F238E27FC236}">
                <a16:creationId xmlns:a16="http://schemas.microsoft.com/office/drawing/2014/main" id="{3C12CD45-C851-596D-7080-382F50DDC110}"/>
              </a:ext>
            </a:extLst>
          </p:cNvPr>
          <p:cNvSpPr>
            <a:spLocks noGrp="1"/>
          </p:cNvSpPr>
          <p:nvPr>
            <p:ph idx="1"/>
          </p:nvPr>
        </p:nvSpPr>
        <p:spPr/>
        <p:txBody>
          <a:bodyPr/>
          <a:lstStyle/>
          <a:p>
            <a:r>
              <a:rPr lang="en-FI" dirty="0"/>
              <a:t>Some models are already more aligned with Marx, others less so.</a:t>
            </a:r>
          </a:p>
          <a:p>
            <a:r>
              <a:rPr lang="en-FI" dirty="0"/>
              <a:t>When we contrast models, we start to get different outcomes giving outcomes which can be given theorethically aligned interprentations.</a:t>
            </a:r>
          </a:p>
          <a:p>
            <a:r>
              <a:rPr lang="en-FI" dirty="0"/>
              <a:t>We see that the impact is not limited to terminology introduced during reweighting data, so the model is ”learning new connections”</a:t>
            </a:r>
          </a:p>
          <a:p>
            <a:r>
              <a:rPr lang="en-FI" dirty="0"/>
              <a:t>Do these meanings actually hold? How to examine this further?</a:t>
            </a:r>
          </a:p>
        </p:txBody>
      </p:sp>
    </p:spTree>
    <p:extLst>
      <p:ext uri="{BB962C8B-B14F-4D97-AF65-F5344CB8AC3E}">
        <p14:creationId xmlns:p14="http://schemas.microsoft.com/office/powerpoint/2010/main" val="2116650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76899-90DE-D5F9-8D54-A402E74CC264}"/>
              </a:ext>
            </a:extLst>
          </p:cNvPr>
          <p:cNvSpPr>
            <a:spLocks noGrp="1"/>
          </p:cNvSpPr>
          <p:nvPr>
            <p:ph type="title"/>
          </p:nvPr>
        </p:nvSpPr>
        <p:spPr>
          <a:xfrm>
            <a:off x="2685473" y="524741"/>
            <a:ext cx="8289636" cy="1325563"/>
          </a:xfrm>
        </p:spPr>
        <p:txBody>
          <a:bodyPr/>
          <a:lstStyle/>
          <a:p>
            <a:r>
              <a:rPr lang="en-FI" dirty="0"/>
              <a:t>Code example</a:t>
            </a:r>
          </a:p>
        </p:txBody>
      </p:sp>
      <p:sp>
        <p:nvSpPr>
          <p:cNvPr id="3" name="Content Placeholder 2">
            <a:extLst>
              <a:ext uri="{FF2B5EF4-FFF2-40B4-BE49-F238E27FC236}">
                <a16:creationId xmlns:a16="http://schemas.microsoft.com/office/drawing/2014/main" id="{71282D77-7BA3-8B69-1809-DEA46DF22D06}"/>
              </a:ext>
            </a:extLst>
          </p:cNvPr>
          <p:cNvSpPr>
            <a:spLocks noGrp="1"/>
          </p:cNvSpPr>
          <p:nvPr>
            <p:ph idx="1"/>
          </p:nvPr>
        </p:nvSpPr>
        <p:spPr>
          <a:xfrm>
            <a:off x="2685473" y="1981921"/>
            <a:ext cx="7003473" cy="4351338"/>
          </a:xfrm>
        </p:spPr>
        <p:txBody>
          <a:bodyPr/>
          <a:lstStyle/>
          <a:p>
            <a:pPr marL="0" indent="0">
              <a:buNone/>
            </a:pPr>
            <a:r>
              <a:rPr lang="en-GB" dirty="0"/>
              <a:t>https://colab.research.google.com/</a:t>
            </a:r>
            <a:r>
              <a:rPr lang="en-GB" dirty="0" err="1"/>
              <a:t>github</a:t>
            </a:r>
            <a:r>
              <a:rPr lang="en-GB" dirty="0"/>
              <a:t>/</a:t>
            </a:r>
            <a:br>
              <a:rPr lang="en-GB" dirty="0"/>
            </a:br>
            <a:r>
              <a:rPr lang="en-GB" dirty="0" err="1"/>
              <a:t>codingsocialscience</a:t>
            </a:r>
            <a:r>
              <a:rPr lang="en-GB" dirty="0"/>
              <a:t>/marxist-llm-tutorial/blob/main/</a:t>
            </a:r>
            <a:r>
              <a:rPr lang="en-GB" dirty="0" err="1"/>
              <a:t>Inference.ipynb</a:t>
            </a: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(or for your local machine: https://</a:t>
            </a:r>
            <a:r>
              <a:rPr lang="en-GB" dirty="0" err="1"/>
              <a:t>github.com</a:t>
            </a:r>
            <a:r>
              <a:rPr lang="en-GB" dirty="0"/>
              <a:t>/</a:t>
            </a:r>
            <a:r>
              <a:rPr lang="en-GB" dirty="0" err="1"/>
              <a:t>codingsocialscience</a:t>
            </a:r>
            <a:r>
              <a:rPr lang="en-GB" dirty="0"/>
              <a:t>/</a:t>
            </a:r>
            <a:r>
              <a:rPr lang="en-GB" dirty="0" err="1"/>
              <a:t>marxist</a:t>
            </a:r>
            <a:r>
              <a:rPr lang="en-GB" dirty="0"/>
              <a:t>-</a:t>
            </a:r>
            <a:r>
              <a:rPr lang="en-GB" dirty="0" err="1"/>
              <a:t>llm</a:t>
            </a:r>
            <a:r>
              <a:rPr lang="en-GB" dirty="0"/>
              <a:t>-tutorial/ )</a:t>
            </a:r>
          </a:p>
          <a:p>
            <a:pPr marL="0" indent="0">
              <a:buNone/>
            </a:pPr>
            <a:endParaRPr lang="en-FI" dirty="0"/>
          </a:p>
        </p:txBody>
      </p:sp>
      <p:pic>
        <p:nvPicPr>
          <p:cNvPr id="7" name="Picture 6">
            <a:extLst>
              <a:ext uri="{FF2B5EF4-FFF2-40B4-BE49-F238E27FC236}">
                <a16:creationId xmlns:a16="http://schemas.microsoft.com/office/drawing/2014/main" id="{8771C435-3189-E375-0673-354B2EDF717E}"/>
              </a:ext>
            </a:extLst>
          </p:cNvPr>
          <p:cNvPicPr>
            <a:picLocks noChangeAspect="1"/>
          </p:cNvPicPr>
          <p:nvPr/>
        </p:nvPicPr>
        <p:blipFill>
          <a:blip r:embed="rId2"/>
          <a:stretch>
            <a:fillRect/>
          </a:stretch>
        </p:blipFill>
        <p:spPr>
          <a:xfrm>
            <a:off x="9506527" y="1850304"/>
            <a:ext cx="2623127" cy="2623127"/>
          </a:xfrm>
          <a:prstGeom prst="rect">
            <a:avLst/>
          </a:prstGeom>
        </p:spPr>
      </p:pic>
      <p:pic>
        <p:nvPicPr>
          <p:cNvPr id="9" name="Picture 8">
            <a:extLst>
              <a:ext uri="{FF2B5EF4-FFF2-40B4-BE49-F238E27FC236}">
                <a16:creationId xmlns:a16="http://schemas.microsoft.com/office/drawing/2014/main" id="{F6FAF193-BD2F-E5E4-5447-7B833F6B12C5}"/>
              </a:ext>
            </a:extLst>
          </p:cNvPr>
          <p:cNvPicPr>
            <a:picLocks noChangeAspect="1"/>
          </p:cNvPicPr>
          <p:nvPr/>
        </p:nvPicPr>
        <p:blipFill>
          <a:blip r:embed="rId3"/>
          <a:stretch>
            <a:fillRect/>
          </a:stretch>
        </p:blipFill>
        <p:spPr>
          <a:xfrm>
            <a:off x="0" y="4247573"/>
            <a:ext cx="2603500" cy="2603500"/>
          </a:xfrm>
          <a:prstGeom prst="rect">
            <a:avLst/>
          </a:prstGeom>
        </p:spPr>
      </p:pic>
    </p:spTree>
    <p:extLst>
      <p:ext uri="{BB962C8B-B14F-4D97-AF65-F5344CB8AC3E}">
        <p14:creationId xmlns:p14="http://schemas.microsoft.com/office/powerpoint/2010/main" val="1509135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408EBA5-F45C-E3E2-CB03-29726263DEEC}"/>
              </a:ext>
            </a:extLst>
          </p:cNvPr>
          <p:cNvSpPr txBox="1"/>
          <p:nvPr/>
        </p:nvSpPr>
        <p:spPr>
          <a:xfrm>
            <a:off x="929079" y="581891"/>
            <a:ext cx="9602850" cy="3416320"/>
          </a:xfrm>
          <a:prstGeom prst="rect">
            <a:avLst/>
          </a:prstGeom>
          <a:noFill/>
        </p:spPr>
        <p:txBody>
          <a:bodyPr wrap="square" rtlCol="0">
            <a:spAutoFit/>
          </a:bodyPr>
          <a:lstStyle/>
          <a:p>
            <a:r>
              <a:rPr lang="en-FI" sz="2400" dirty="0">
                <a:latin typeface="Consolas" panose="020B0609020204030204" pitchFamily="49" charset="0"/>
                <a:cs typeface="Consolas" panose="020B0609020204030204" pitchFamily="49" charset="0"/>
              </a:rPr>
              <a:t>%pip install transformers torch ipywidgets pandas</a:t>
            </a:r>
          </a:p>
          <a:p>
            <a:endParaRPr lang="en-FI" sz="2400" dirty="0">
              <a:latin typeface="Consolas" panose="020B0609020204030204" pitchFamily="49" charset="0"/>
              <a:cs typeface="Consolas" panose="020B0609020204030204" pitchFamily="49" charset="0"/>
            </a:endParaRPr>
          </a:p>
          <a:p>
            <a:r>
              <a:rPr lang="en-FI" sz="2400" dirty="0">
                <a:latin typeface="Consolas" panose="020B0609020204030204" pitchFamily="49" charset="0"/>
                <a:cs typeface="Consolas" panose="020B0609020204030204" pitchFamily="49" charset="0"/>
              </a:rPr>
              <a:t>import transformers</a:t>
            </a:r>
          </a:p>
          <a:p>
            <a:br>
              <a:rPr lang="en-FI" sz="2400" dirty="0">
                <a:latin typeface="Consolas" panose="020B0609020204030204" pitchFamily="49" charset="0"/>
                <a:cs typeface="Consolas" panose="020B0609020204030204" pitchFamily="49" charset="0"/>
              </a:rPr>
            </a:br>
            <a:endParaRPr lang="en-FI" sz="2400" dirty="0">
              <a:latin typeface="Consolas" panose="020B0609020204030204" pitchFamily="49" charset="0"/>
              <a:cs typeface="Consolas" panose="020B0609020204030204" pitchFamily="49" charset="0"/>
            </a:endParaRPr>
          </a:p>
          <a:p>
            <a:r>
              <a:rPr lang="en-FI" sz="2400" dirty="0">
                <a:latin typeface="Consolas" panose="020B0609020204030204" pitchFamily="49" charset="0"/>
                <a:cs typeface="Consolas" panose="020B0609020204030204" pitchFamily="49" charset="0"/>
              </a:rPr>
              <a:t>from transformers import pipeline</a:t>
            </a:r>
          </a:p>
          <a:p>
            <a:r>
              <a:rPr lang="en-FI" sz="2400" dirty="0">
                <a:latin typeface="Consolas" panose="020B0609020204030204" pitchFamily="49" charset="0"/>
                <a:cs typeface="Consolas" panose="020B0609020204030204" pitchFamily="49" charset="0"/>
              </a:rPr>
              <a:t>import torch</a:t>
            </a:r>
          </a:p>
          <a:p>
            <a:endParaRPr lang="en-FI" sz="2400" dirty="0">
              <a:latin typeface="Consolas" panose="020B0609020204030204" pitchFamily="49" charset="0"/>
              <a:cs typeface="Consolas" panose="020B0609020204030204" pitchFamily="49" charset="0"/>
            </a:endParaRPr>
          </a:p>
          <a:p>
            <a:r>
              <a:rPr lang="en-FI" sz="2400" dirty="0">
                <a:latin typeface="Consolas" panose="020B0609020204030204" pitchFamily="49" charset="0"/>
                <a:cs typeface="Consolas" panose="020B0609020204030204" pitchFamily="49" charset="0"/>
              </a:rPr>
              <a:t>transformers.enable_full_determinism( 0 )</a:t>
            </a:r>
          </a:p>
        </p:txBody>
      </p:sp>
    </p:spTree>
    <p:extLst>
      <p:ext uri="{BB962C8B-B14F-4D97-AF65-F5344CB8AC3E}">
        <p14:creationId xmlns:p14="http://schemas.microsoft.com/office/powerpoint/2010/main" val="24397916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47B39-3612-EB86-4D26-0124C0088FE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7C4DAAB-320B-68D5-D581-08609AEB90B4}"/>
              </a:ext>
            </a:extLst>
          </p:cNvPr>
          <p:cNvSpPr txBox="1"/>
          <p:nvPr/>
        </p:nvSpPr>
        <p:spPr>
          <a:xfrm>
            <a:off x="929079" y="581891"/>
            <a:ext cx="9602850" cy="3416320"/>
          </a:xfrm>
          <a:prstGeom prst="rect">
            <a:avLst/>
          </a:prstGeom>
          <a:noFill/>
        </p:spPr>
        <p:txBody>
          <a:bodyPr wrap="square" rtlCol="0">
            <a:spAutoFit/>
          </a:bodyPr>
          <a:lstStyle/>
          <a:p>
            <a:r>
              <a:rPr lang="en-GB" sz="2400" dirty="0" err="1">
                <a:latin typeface="Consolas" panose="020B0609020204030204" pitchFamily="49" charset="0"/>
                <a:cs typeface="Consolas" panose="020B0609020204030204" pitchFamily="49" charset="0"/>
              </a:rPr>
              <a:t>model_name</a:t>
            </a:r>
            <a:r>
              <a:rPr lang="en-GB" sz="2400" dirty="0">
                <a:latin typeface="Consolas" panose="020B0609020204030204" pitchFamily="49" charset="0"/>
                <a:cs typeface="Consolas" panose="020B0609020204030204" pitchFamily="49" charset="0"/>
              </a:rPr>
              <a:t> = "</a:t>
            </a:r>
            <a:r>
              <a:rPr lang="en-GB" sz="2400" dirty="0" err="1">
                <a:latin typeface="Consolas" panose="020B0609020204030204" pitchFamily="49" charset="0"/>
                <a:cs typeface="Consolas" panose="020B0609020204030204" pitchFamily="49" charset="0"/>
              </a:rPr>
              <a:t>openai</a:t>
            </a:r>
            <a:r>
              <a:rPr lang="en-GB" sz="2400" dirty="0">
                <a:latin typeface="Consolas" panose="020B0609020204030204" pitchFamily="49" charset="0"/>
                <a:cs typeface="Consolas" panose="020B0609020204030204" pitchFamily="49" charset="0"/>
              </a:rPr>
              <a:t>-community/gpt2"</a:t>
            </a:r>
          </a:p>
          <a:p>
            <a:br>
              <a:rPr lang="en-FI" sz="2400" dirty="0">
                <a:latin typeface="Consolas" panose="020B0609020204030204" pitchFamily="49" charset="0"/>
                <a:cs typeface="Consolas" panose="020B0609020204030204" pitchFamily="49" charset="0"/>
              </a:rPr>
            </a:br>
            <a:endParaRPr lang="en-FI" sz="2400" dirty="0">
              <a:latin typeface="Consolas" panose="020B0609020204030204" pitchFamily="49" charset="0"/>
              <a:cs typeface="Consolas" panose="020B0609020204030204" pitchFamily="49" charset="0"/>
            </a:endParaRPr>
          </a:p>
          <a:p>
            <a:r>
              <a:rPr lang="en-GB" sz="2400" dirty="0">
                <a:latin typeface="Consolas" panose="020B0609020204030204" pitchFamily="49" charset="0"/>
                <a:cs typeface="Consolas" panose="020B0609020204030204" pitchFamily="49" charset="0"/>
              </a:rPr>
              <a:t>finetuned = pipeline('text-generation', model = f"./models/{</a:t>
            </a:r>
            <a:r>
              <a:rPr lang="en-GB" sz="2400" dirty="0" err="1">
                <a:latin typeface="Consolas" panose="020B0609020204030204" pitchFamily="49" charset="0"/>
                <a:cs typeface="Consolas" panose="020B0609020204030204" pitchFamily="49" charset="0"/>
              </a:rPr>
              <a:t>model_name.replace</a:t>
            </a:r>
            <a:r>
              <a:rPr lang="en-GB" sz="2400" dirty="0">
                <a:latin typeface="Consolas" panose="020B0609020204030204" pitchFamily="49" charset="0"/>
                <a:cs typeface="Consolas" panose="020B0609020204030204" pitchFamily="49" charset="0"/>
              </a:rPr>
              <a:t>('/', '_')}-finetuned-causal-model/")</a:t>
            </a:r>
          </a:p>
          <a:p>
            <a:endParaRPr lang="en-GB" sz="2400" dirty="0">
              <a:latin typeface="Consolas" panose="020B0609020204030204" pitchFamily="49" charset="0"/>
              <a:cs typeface="Consolas" panose="020B0609020204030204" pitchFamily="49" charset="0"/>
            </a:endParaRPr>
          </a:p>
          <a:p>
            <a:r>
              <a:rPr lang="en-GB" sz="2400" dirty="0">
                <a:latin typeface="Consolas" panose="020B0609020204030204" pitchFamily="49" charset="0"/>
                <a:cs typeface="Consolas" panose="020B0609020204030204" pitchFamily="49" charset="0"/>
              </a:rPr>
              <a:t>baseline = pipeline('text-generation', model = </a:t>
            </a:r>
            <a:r>
              <a:rPr lang="en-GB" sz="2400" dirty="0" err="1">
                <a:latin typeface="Consolas" panose="020B0609020204030204" pitchFamily="49" charset="0"/>
                <a:cs typeface="Consolas" panose="020B0609020204030204" pitchFamily="49" charset="0"/>
              </a:rPr>
              <a:t>model_name</a:t>
            </a:r>
            <a:r>
              <a:rPr lang="en-GB"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4288040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C9132-9EF1-0CBD-0D15-CB65A88E9DE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E0B983A-9BF8-C9D6-C0C9-D2F40B08FD72}"/>
              </a:ext>
            </a:extLst>
          </p:cNvPr>
          <p:cNvSpPr txBox="1"/>
          <p:nvPr/>
        </p:nvSpPr>
        <p:spPr>
          <a:xfrm>
            <a:off x="929079" y="581891"/>
            <a:ext cx="9602850" cy="1200329"/>
          </a:xfrm>
          <a:prstGeom prst="rect">
            <a:avLst/>
          </a:prstGeom>
          <a:noFill/>
        </p:spPr>
        <p:txBody>
          <a:bodyPr wrap="square" rtlCol="0">
            <a:spAutoFit/>
          </a:bodyPr>
          <a:lstStyle/>
          <a:p>
            <a:r>
              <a:rPr lang="en-GB" sz="2400" dirty="0">
                <a:latin typeface="Consolas" panose="020B0609020204030204" pitchFamily="49" charset="0"/>
                <a:cs typeface="Consolas" panose="020B0609020204030204" pitchFamily="49" charset="0"/>
              </a:rPr>
              <a:t>prompt = "The purpose of companies is to"</a:t>
            </a:r>
          </a:p>
          <a:p>
            <a:r>
              <a:rPr lang="en-GB" sz="2400" dirty="0">
                <a:latin typeface="Consolas" panose="020B0609020204030204" pitchFamily="49" charset="0"/>
                <a:cs typeface="Consolas" panose="020B0609020204030204" pitchFamily="49" charset="0"/>
              </a:rPr>
              <a:t>print( finetuned(prompt)[0]['</a:t>
            </a:r>
            <a:r>
              <a:rPr lang="en-GB" sz="2400" dirty="0" err="1">
                <a:latin typeface="Consolas" panose="020B0609020204030204" pitchFamily="49" charset="0"/>
                <a:cs typeface="Consolas" panose="020B0609020204030204" pitchFamily="49" charset="0"/>
              </a:rPr>
              <a:t>generated_text</a:t>
            </a:r>
            <a:r>
              <a:rPr lang="en-GB" sz="2400" dirty="0">
                <a:latin typeface="Consolas" panose="020B0609020204030204" pitchFamily="49" charset="0"/>
                <a:cs typeface="Consolas" panose="020B0609020204030204" pitchFamily="49" charset="0"/>
              </a:rPr>
              <a:t>'] )</a:t>
            </a:r>
          </a:p>
          <a:p>
            <a:r>
              <a:rPr lang="en-GB" sz="2400" dirty="0">
                <a:latin typeface="Consolas" panose="020B0609020204030204" pitchFamily="49" charset="0"/>
                <a:cs typeface="Consolas" panose="020B0609020204030204" pitchFamily="49" charset="0"/>
              </a:rPr>
              <a:t>print( baseline(prompt)[0]['</a:t>
            </a:r>
            <a:r>
              <a:rPr lang="en-GB" sz="2400" dirty="0" err="1">
                <a:latin typeface="Consolas" panose="020B0609020204030204" pitchFamily="49" charset="0"/>
                <a:cs typeface="Consolas" panose="020B0609020204030204" pitchFamily="49" charset="0"/>
              </a:rPr>
              <a:t>generated_text</a:t>
            </a:r>
            <a:r>
              <a:rPr lang="en-GB" sz="24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1910885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350F-60A5-814C-07B5-23CDB2B1311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6F4824C-4E01-2E51-4478-FB8E17FCF2F9}"/>
              </a:ext>
            </a:extLst>
          </p:cNvPr>
          <p:cNvSpPr txBox="1"/>
          <p:nvPr/>
        </p:nvSpPr>
        <p:spPr>
          <a:xfrm>
            <a:off x="929079" y="581891"/>
            <a:ext cx="9602850" cy="1938992"/>
          </a:xfrm>
          <a:prstGeom prst="rect">
            <a:avLst/>
          </a:prstGeom>
          <a:noFill/>
        </p:spPr>
        <p:txBody>
          <a:bodyPr wrap="square" rtlCol="0">
            <a:spAutoFit/>
          </a:bodyPr>
          <a:lstStyle/>
          <a:p>
            <a:r>
              <a:rPr lang="en-GB" sz="2400" dirty="0">
                <a:latin typeface="Consolas" panose="020B0609020204030204" pitchFamily="49" charset="0"/>
                <a:cs typeface="Consolas" panose="020B0609020204030204" pitchFamily="49" charset="0"/>
              </a:rPr>
              <a:t>prompt = "The purpose of companies is to"</a:t>
            </a:r>
          </a:p>
          <a:p>
            <a:r>
              <a:rPr lang="en-GB" sz="2400" dirty="0">
                <a:latin typeface="Consolas" panose="020B0609020204030204" pitchFamily="49" charset="0"/>
                <a:cs typeface="Consolas" panose="020B0609020204030204" pitchFamily="49" charset="0"/>
              </a:rPr>
              <a:t>print( finetuned(prompt)[0]['</a:t>
            </a:r>
            <a:r>
              <a:rPr lang="en-GB" sz="2400" dirty="0" err="1">
                <a:latin typeface="Consolas" panose="020B0609020204030204" pitchFamily="49" charset="0"/>
                <a:cs typeface="Consolas" panose="020B0609020204030204" pitchFamily="49" charset="0"/>
              </a:rPr>
              <a:t>generated_text</a:t>
            </a:r>
            <a:r>
              <a:rPr lang="en-GB" sz="2400" dirty="0">
                <a:latin typeface="Consolas" panose="020B0609020204030204" pitchFamily="49" charset="0"/>
                <a:cs typeface="Consolas" panose="020B0609020204030204" pitchFamily="49" charset="0"/>
              </a:rPr>
              <a:t>'] )</a:t>
            </a:r>
          </a:p>
          <a:p>
            <a:r>
              <a:rPr lang="en-GB" sz="2400" dirty="0">
                <a:latin typeface="Consolas" panose="020B0609020204030204" pitchFamily="49" charset="0"/>
                <a:cs typeface="Consolas" panose="020B0609020204030204" pitchFamily="49" charset="0"/>
              </a:rPr>
              <a:t>print( baseline(prompt)[0]['</a:t>
            </a:r>
            <a:r>
              <a:rPr lang="en-GB" sz="2400" dirty="0" err="1">
                <a:latin typeface="Consolas" panose="020B0609020204030204" pitchFamily="49" charset="0"/>
                <a:cs typeface="Consolas" panose="020B0609020204030204" pitchFamily="49" charset="0"/>
              </a:rPr>
              <a:t>generated_text</a:t>
            </a:r>
            <a:r>
              <a:rPr lang="en-GB" sz="2400" dirty="0">
                <a:latin typeface="Consolas" panose="020B0609020204030204" pitchFamily="49" charset="0"/>
                <a:cs typeface="Consolas" panose="020B0609020204030204" pitchFamily="49" charset="0"/>
              </a:rPr>
              <a:t>’] )</a:t>
            </a:r>
          </a:p>
          <a:p>
            <a:endParaRPr lang="en-GB" sz="2400" dirty="0">
              <a:latin typeface="Consolas" panose="020B0609020204030204" pitchFamily="49" charset="0"/>
              <a:cs typeface="Consolas" panose="020B0609020204030204" pitchFamily="49" charset="0"/>
            </a:endParaRPr>
          </a:p>
          <a:p>
            <a:r>
              <a:rPr lang="en-GB" sz="2400" dirty="0">
                <a:latin typeface="Consolas" panose="020B0609020204030204" pitchFamily="49" charset="0"/>
                <a:cs typeface="Consolas" panose="020B0609020204030204" pitchFamily="49" charset="0"/>
              </a:rPr>
              <a:t>finetuned(prompt, </a:t>
            </a:r>
            <a:r>
              <a:rPr lang="en-GB" sz="2400" dirty="0" err="1">
                <a:latin typeface="Consolas" panose="020B0609020204030204" pitchFamily="49" charset="0"/>
                <a:cs typeface="Consolas" panose="020B0609020204030204" pitchFamily="49" charset="0"/>
              </a:rPr>
              <a:t>num_return_sequences</a:t>
            </a:r>
            <a:r>
              <a:rPr lang="en-GB" sz="2400" dirty="0">
                <a:latin typeface="Consolas" panose="020B0609020204030204" pitchFamily="49" charset="0"/>
                <a:cs typeface="Consolas" panose="020B0609020204030204" pitchFamily="49" charset="0"/>
              </a:rPr>
              <a:t>=5)</a:t>
            </a:r>
          </a:p>
        </p:txBody>
      </p:sp>
      <p:sp>
        <p:nvSpPr>
          <p:cNvPr id="2" name="TextBox 1">
            <a:extLst>
              <a:ext uri="{FF2B5EF4-FFF2-40B4-BE49-F238E27FC236}">
                <a16:creationId xmlns:a16="http://schemas.microsoft.com/office/drawing/2014/main" id="{2F0D73E2-D0FF-B060-EE2D-288C67B458C5}"/>
              </a:ext>
            </a:extLst>
          </p:cNvPr>
          <p:cNvSpPr txBox="1"/>
          <p:nvPr/>
        </p:nvSpPr>
        <p:spPr>
          <a:xfrm>
            <a:off x="5570557" y="2683985"/>
            <a:ext cx="9602851" cy="9694962"/>
          </a:xfrm>
          <a:prstGeom prst="rect">
            <a:avLst/>
          </a:prstGeom>
          <a:noFill/>
        </p:spPr>
        <p:txBody>
          <a:bodyPr wrap="square" rtlCol="0">
            <a:spAutoFit/>
          </a:bodyPr>
          <a:lstStyle/>
          <a:p>
            <a:r>
              <a:rPr lang="en-GB" sz="1200" dirty="0">
                <a:latin typeface="Consolas" panose="020B0609020204030204" pitchFamily="49" charset="0"/>
                <a:cs typeface="Consolas" panose="020B0609020204030204" pitchFamily="49" charset="0"/>
              </a:rPr>
              <a:t>[{'</a:t>
            </a:r>
            <a:r>
              <a:rPr lang="en-GB" sz="1200" dirty="0" err="1">
                <a:latin typeface="Consolas" panose="020B0609020204030204" pitchFamily="49" charset="0"/>
                <a:cs typeface="Consolas" panose="020B0609020204030204" pitchFamily="49" charset="0"/>
              </a:rPr>
              <a:t>generated_text</a:t>
            </a:r>
            <a:r>
              <a:rPr lang="en-GB" sz="1200" dirty="0">
                <a:latin typeface="Consolas" panose="020B0609020204030204" pitchFamily="49" charset="0"/>
                <a:cs typeface="Consolas" panose="020B0609020204030204" pitchFamily="49" charset="0"/>
              </a:rPr>
              <a:t>': 'The purpose of companies is to improve their products by introducing new elements. The introduction of machinery has brought about considerable improvement in these industries.  Here anew element has to </a:t>
            </a:r>
            <a:r>
              <a:rPr lang="en-GB" sz="1200" dirty="0" err="1">
                <a:latin typeface="Consolas" panose="020B0609020204030204" pitchFamily="49" charset="0"/>
                <a:cs typeface="Consolas" panose="020B0609020204030204" pitchFamily="49" charset="0"/>
              </a:rPr>
              <a:t>beintroduced</a:t>
            </a:r>
            <a:r>
              <a:rPr lang="en-GB" sz="1200" dirty="0">
                <a:latin typeface="Consolas" panose="020B0609020204030204" pitchFamily="49" charset="0"/>
                <a:cs typeface="Consolas" panose="020B0609020204030204" pitchFamily="49" charset="0"/>
              </a:rPr>
              <a:t>, especially when machinery is required.  The machinery of manufacture consists in drawing from the earth, and thus producing a certain quantity </a:t>
            </a:r>
            <a:r>
              <a:rPr lang="en-GB" sz="1200" dirty="0" err="1">
                <a:latin typeface="Consolas" panose="020B0609020204030204" pitchFamily="49" charset="0"/>
                <a:cs typeface="Consolas" panose="020B0609020204030204" pitchFamily="49" charset="0"/>
              </a:rPr>
              <a:t>ofcommodities</a:t>
            </a:r>
            <a:r>
              <a:rPr lang="en-GB" sz="1200" dirty="0">
                <a:latin typeface="Consolas" panose="020B0609020204030204" pitchFamily="49" charset="0"/>
                <a:cs typeface="Consolas" panose="020B0609020204030204" pitchFamily="49" charset="0"/>
              </a:rPr>
              <a:t>, which are then distributed among many individuals.  The new constituent elements are often added to the existing ones, and this is done by means of new machinery.  The machinery of manufacture is, therefore, not only an improvement of the condition of the earth for the production </a:t>
            </a:r>
            <a:r>
              <a:rPr lang="en-GB" sz="1200" dirty="0" err="1">
                <a:latin typeface="Consolas" panose="020B0609020204030204" pitchFamily="49" charset="0"/>
                <a:cs typeface="Consolas" panose="020B0609020204030204" pitchFamily="49" charset="0"/>
              </a:rPr>
              <a:t>ofcommodities</a:t>
            </a:r>
            <a:r>
              <a:rPr lang="en-GB" sz="1200" dirty="0">
                <a:latin typeface="Consolas" panose="020B0609020204030204" pitchFamily="49" charset="0"/>
                <a:cs typeface="Consolas" panose="020B0609020204030204" pitchFamily="49" charset="0"/>
              </a:rPr>
              <a:t>, it is a means of increasing the productivity of the earth.  With this the earth rises, and the workers, who are accustomed to the soil, are enabled to consume </a:t>
            </a:r>
            <a:r>
              <a:rPr lang="en-GB" sz="1200" dirty="0" err="1">
                <a:latin typeface="Consolas" panose="020B0609020204030204" pitchFamily="49" charset="0"/>
                <a:cs typeface="Consolas" panose="020B0609020204030204" pitchFamily="49" charset="0"/>
              </a:rPr>
              <a:t>morecommodities</a:t>
            </a:r>
            <a:r>
              <a:rPr lang="en-GB" sz="1200" dirty="0">
                <a:latin typeface="Consolas" panose="020B0609020204030204" pitchFamily="49" charset="0"/>
                <a:cs typeface="Consolas" panose="020B0609020204030204" pitchFamily="49" charset="0"/>
              </a:rPr>
              <a:t>.  With machinery, however, the use of human beings is not only to be avoided, but reduced; the work of the hand, </a:t>
            </a:r>
            <a:r>
              <a:rPr lang="en-GB" sz="1200" dirty="0" err="1">
                <a:latin typeface="Consolas" panose="020B0609020204030204" pitchFamily="49" charset="0"/>
                <a:cs typeface="Consolas" panose="020B0609020204030204" pitchFamily="49" charset="0"/>
              </a:rPr>
              <a:t>ofthe</a:t>
            </a:r>
            <a:r>
              <a:rPr lang="en-GB" sz="1200" dirty="0">
                <a:latin typeface="Consolas" panose="020B0609020204030204" pitchFamily="49" charset="0"/>
                <a:cs typeface="Consolas" panose="020B0609020204030204" pitchFamily="49" charset="0"/>
              </a:rPr>
              <a:t> worker, is, in general, carried on by machines.  The machines are of a mechanical nature, and are not yet invented; they are, therefore, a form of labour in which all the elements are employed.  The workers, by themselves, are not engaged in the production </a:t>
            </a:r>
            <a:r>
              <a:rPr lang="en-GB" sz="1200" dirty="0" err="1">
                <a:latin typeface="Consolas" panose="020B0609020204030204" pitchFamily="49" charset="0"/>
                <a:cs typeface="Consolas" panose="020B0609020204030204" pitchFamily="49" charset="0"/>
              </a:rPr>
              <a:t>ofcommodities</a:t>
            </a:r>
            <a:r>
              <a:rPr lang="en-GB" sz="1200" dirty="0">
                <a:latin typeface="Consolas" panose="020B0609020204030204" pitchFamily="49" charset="0"/>
                <a:cs typeface="Consolas" panose="020B0609020204030204" pitchFamily="49" charset="0"/>
              </a:rPr>
              <a:t>, for they have to be instructed in'},</a:t>
            </a:r>
          </a:p>
          <a:p>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generated_text</a:t>
            </a:r>
            <a:r>
              <a:rPr lang="en-GB" sz="1200" dirty="0">
                <a:latin typeface="Consolas" panose="020B0609020204030204" pitchFamily="49" charset="0"/>
                <a:cs typeface="Consolas" panose="020B0609020204030204" pitchFamily="49" charset="0"/>
              </a:rPr>
              <a:t>': 'The purpose of companies is to facilitate the movement of commodities into the hands </a:t>
            </a:r>
            <a:r>
              <a:rPr lang="en-GB" sz="1200" dirty="0" err="1">
                <a:latin typeface="Consolas" panose="020B0609020204030204" pitchFamily="49" charset="0"/>
                <a:cs typeface="Consolas" panose="020B0609020204030204" pitchFamily="49" charset="0"/>
              </a:rPr>
              <a:t>ofthe</a:t>
            </a:r>
            <a:r>
              <a:rPr lang="en-GB" sz="1200" dirty="0">
                <a:latin typeface="Consolas" panose="020B0609020204030204" pitchFamily="49" charset="0"/>
                <a:cs typeface="Consolas" panose="020B0609020204030204" pitchFamily="49" charset="0"/>
              </a:rPr>
              <a:t> workers and to secure their products from the consequences of their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The first </a:t>
            </a:r>
            <a:r>
              <a:rPr lang="en-GB" sz="1200" dirty="0" err="1">
                <a:latin typeface="Consolas" panose="020B0609020204030204" pitchFamily="49" charset="0"/>
                <a:cs typeface="Consolas" panose="020B0609020204030204" pitchFamily="49" charset="0"/>
              </a:rPr>
              <a:t>stepin</a:t>
            </a:r>
            <a:r>
              <a:rPr lang="en-GB" sz="1200" dirty="0">
                <a:latin typeface="Consolas" panose="020B0609020204030204" pitchFamily="49" charset="0"/>
                <a:cs typeface="Consolas" panose="020B0609020204030204" pitchFamily="49" charset="0"/>
              </a:rPr>
              <a:t> this direction is the introduction of </a:t>
            </a:r>
            <a:r>
              <a:rPr lang="en-GB" sz="1200" dirty="0" err="1">
                <a:latin typeface="Consolas" panose="020B0609020204030204" pitchFamily="49" charset="0"/>
                <a:cs typeface="Consolas" panose="020B0609020204030204" pitchFamily="49" charset="0"/>
              </a:rPr>
              <a:t>machinesinto</a:t>
            </a:r>
            <a:r>
              <a:rPr lang="en-GB" sz="1200" dirty="0">
                <a:latin typeface="Consolas" panose="020B0609020204030204" pitchFamily="49" charset="0"/>
                <a:cs typeface="Consolas" panose="020B0609020204030204" pitchFamily="49" charset="0"/>
              </a:rPr>
              <a:t> production. The machinery of manufacture is of the most rapidity possible, and in its application it is carried out in the most advantageous way. Since there are no machinery in </a:t>
            </a:r>
            <a:r>
              <a:rPr lang="en-GB" sz="1200" dirty="0" err="1">
                <a:latin typeface="Consolas" panose="020B0609020204030204" pitchFamily="49" charset="0"/>
                <a:cs typeface="Consolas" panose="020B0609020204030204" pitchFamily="49" charset="0"/>
              </a:rPr>
              <a:t>Englandwhich</a:t>
            </a:r>
            <a:r>
              <a:rPr lang="en-GB" sz="1200" dirty="0">
                <a:latin typeface="Consolas" panose="020B0609020204030204" pitchFamily="49" charset="0"/>
                <a:cs typeface="Consolas" panose="020B0609020204030204" pitchFamily="49" charset="0"/>
              </a:rPr>
              <a:t> can be improved by machinery, the use of </a:t>
            </a:r>
            <a:r>
              <a:rPr lang="en-GB" sz="1200" dirty="0" err="1">
                <a:latin typeface="Consolas" panose="020B0609020204030204" pitchFamily="49" charset="0"/>
                <a:cs typeface="Consolas" panose="020B0609020204030204" pitchFamily="49" charset="0"/>
              </a:rPr>
              <a:t>themachine</a:t>
            </a:r>
            <a:r>
              <a:rPr lang="en-GB" sz="1200" dirty="0">
                <a:latin typeface="Consolas" panose="020B0609020204030204" pitchFamily="49" charset="0"/>
                <a:cs typeface="Consolas" panose="020B0609020204030204" pitchFamily="49" charset="0"/>
              </a:rPr>
              <a:t> in producing commodities is limited to the use of human hands.                                                                                   PRODUCTION BY MONEY.                                                           ASSOCIATION.           '},</a:t>
            </a:r>
          </a:p>
          <a:p>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generated_text</a:t>
            </a:r>
            <a:r>
              <a:rPr lang="en-GB" sz="1200" dirty="0">
                <a:latin typeface="Consolas" panose="020B0609020204030204" pitchFamily="49" charset="0"/>
                <a:cs typeface="Consolas" panose="020B0609020204030204" pitchFamily="49" charset="0"/>
              </a:rPr>
              <a:t>': "The purpose of companies is to transfer the labour of the </a:t>
            </a:r>
            <a:r>
              <a:rPr lang="en-GB" sz="1200" dirty="0" err="1">
                <a:latin typeface="Consolas" panose="020B0609020204030204" pitchFamily="49" charset="0"/>
                <a:cs typeface="Consolas" panose="020B0609020204030204" pitchFamily="49" charset="0"/>
              </a:rPr>
              <a:t>operativesto</a:t>
            </a:r>
            <a:r>
              <a:rPr lang="en-GB" sz="1200" dirty="0">
                <a:latin typeface="Consolas" panose="020B0609020204030204" pitchFamily="49" charset="0"/>
                <a:cs typeface="Consolas" panose="020B0609020204030204" pitchFamily="49" charset="0"/>
              </a:rPr>
              <a:t> the operatives, so that the operatives are generally employed in the mines, and the operatives are employed in the mines in the form of machinery, or in the manufacture of goods. In the following paragraphs I have cited several examples of working-men who have been </a:t>
            </a:r>
            <a:r>
              <a:rPr lang="en-GB" sz="1200" dirty="0" err="1">
                <a:latin typeface="Consolas" panose="020B0609020204030204" pitchFamily="49" charset="0"/>
                <a:cs typeface="Consolas" panose="020B0609020204030204" pitchFamily="49" charset="0"/>
              </a:rPr>
              <a:t>exploitedin</a:t>
            </a:r>
            <a:r>
              <a:rPr lang="en-GB" sz="1200" dirty="0">
                <a:latin typeface="Consolas" panose="020B0609020204030204" pitchFamily="49" charset="0"/>
                <a:cs typeface="Consolas" panose="020B0609020204030204" pitchFamily="49" charset="0"/>
              </a:rPr>
              <a:t> mines under the pretext of their working-men's emancipation.  But the general conclusions must also be drawn from the foregoing.  That the workers are in fact more </a:t>
            </a:r>
            <a:r>
              <a:rPr lang="en-GB" sz="1200" dirty="0" err="1">
                <a:latin typeface="Consolas" panose="020B0609020204030204" pitchFamily="49" charset="0"/>
                <a:cs typeface="Consolas" panose="020B0609020204030204" pitchFamily="49" charset="0"/>
              </a:rPr>
              <a:t>thanusually</a:t>
            </a:r>
            <a:r>
              <a:rPr lang="en-GB" sz="1200" dirty="0">
                <a:latin typeface="Consolas" panose="020B0609020204030204" pitchFamily="49" charset="0"/>
                <a:cs typeface="Consolas" panose="020B0609020204030204" pitchFamily="49" charset="0"/>
              </a:rPr>
              <a:t> exploited by the employers, </a:t>
            </a:r>
            <a:r>
              <a:rPr lang="en-GB" sz="1200" dirty="0" err="1">
                <a:latin typeface="Consolas" panose="020B0609020204030204" pitchFamily="49" charset="0"/>
                <a:cs typeface="Consolas" panose="020B0609020204030204" pitchFamily="49" charset="0"/>
              </a:rPr>
              <a:t>is,I</a:t>
            </a:r>
            <a:r>
              <a:rPr lang="en-GB" sz="1200" dirty="0">
                <a:latin typeface="Consolas" panose="020B0609020204030204" pitchFamily="49" charset="0"/>
                <a:cs typeface="Consolas" panose="020B0609020204030204" pitchFamily="49" charset="0"/>
              </a:rPr>
              <a:t> repeat, not merely proved by the facts in the case of mines, but also by the evidence we have taken of them from the literature of Manchester.  The very fact that a miner, as </a:t>
            </a:r>
            <a:r>
              <a:rPr lang="en-GB" sz="1200" dirty="0" err="1">
                <a:latin typeface="Consolas" panose="020B0609020204030204" pitchFamily="49" charset="0"/>
                <a:cs typeface="Consolas" panose="020B0609020204030204" pitchFamily="49" charset="0"/>
              </a:rPr>
              <a:t>anemployee</a:t>
            </a:r>
            <a:r>
              <a:rPr lang="en-GB" sz="1200" dirty="0">
                <a:latin typeface="Consolas" panose="020B0609020204030204" pitchFamily="49" charset="0"/>
                <a:cs typeface="Consolas" panose="020B0609020204030204" pitchFamily="49" charset="0"/>
              </a:rPr>
              <a:t>, is required to make a </a:t>
            </a:r>
            <a:r>
              <a:rPr lang="en-GB" sz="1200" dirty="0" err="1">
                <a:latin typeface="Consolas" panose="020B0609020204030204" pitchFamily="49" charset="0"/>
                <a:cs typeface="Consolas" panose="020B0609020204030204" pitchFamily="49" charset="0"/>
              </a:rPr>
              <a:t>certainquantity</a:t>
            </a:r>
            <a:r>
              <a:rPr lang="en-GB" sz="1200" dirty="0">
                <a:latin typeface="Consolas" panose="020B0609020204030204" pitchFamily="49" charset="0"/>
                <a:cs typeface="Consolas" panose="020B0609020204030204" pitchFamily="49" charset="0"/>
              </a:rPr>
              <a:t> of wages, is confirmed by the fact that he is required in mines to make a certain quantity </a:t>
            </a:r>
            <a:r>
              <a:rPr lang="en-GB" sz="1200" dirty="0" err="1">
                <a:latin typeface="Consolas" panose="020B0609020204030204" pitchFamily="49" charset="0"/>
                <a:cs typeface="Consolas" panose="020B0609020204030204" pitchFamily="49" charset="0"/>
              </a:rPr>
              <a:t>ofequivalent</a:t>
            </a:r>
            <a:r>
              <a:rPr lang="en-GB" sz="1200" dirty="0">
                <a:latin typeface="Consolas" panose="020B0609020204030204" pitchFamily="49" charset="0"/>
                <a:cs typeface="Consolas" panose="020B0609020204030204" pitchFamily="49" charset="0"/>
              </a:rPr>
              <a:t> labour, namely, to do the </a:t>
            </a:r>
            <a:r>
              <a:rPr lang="en-GB" sz="1200" dirty="0" err="1">
                <a:latin typeface="Consolas" panose="020B0609020204030204" pitchFamily="49" charset="0"/>
                <a:cs typeface="Consolas" panose="020B0609020204030204" pitchFamily="49" charset="0"/>
              </a:rPr>
              <a:t>workof</a:t>
            </a:r>
            <a:r>
              <a:rPr lang="en-GB" sz="1200" dirty="0">
                <a:latin typeface="Consolas" panose="020B0609020204030204" pitchFamily="49" charset="0"/>
                <a:cs typeface="Consolas" panose="020B0609020204030204" pitchFamily="49" charset="0"/>
              </a:rPr>
              <a:t> the operatives.  He is required, therefore, to make the requisite money from the mine only for the use of the operatives, and, therefore, his wages are not the same as those of the operatives.  Hence, in 1843, a miner of the Manchester mill, Barry, had to pay the mines a single </a:t>
            </a:r>
            <a:r>
              <a:rPr lang="en-GB" sz="1200" dirty="0" err="1">
                <a:latin typeface="Consolas" panose="020B0609020204030204" pitchFamily="49" charset="0"/>
                <a:cs typeface="Consolas" panose="020B0609020204030204" pitchFamily="49" charset="0"/>
              </a:rPr>
              <a:t>pennyin</a:t>
            </a:r>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exchangefor</a:t>
            </a:r>
            <a:r>
              <a:rPr lang="en-GB" sz="1200" dirty="0">
                <a:latin typeface="Consolas" panose="020B0609020204030204" pitchFamily="49" charset="0"/>
                <a:cs typeface="Consolas" panose="020B0609020204030204" pitchFamily="49" charset="0"/>
              </a:rPr>
              <a:t> the operatives"},</a:t>
            </a:r>
          </a:p>
          <a:p>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generated_text</a:t>
            </a:r>
            <a:r>
              <a:rPr lang="en-GB" sz="1200" dirty="0">
                <a:latin typeface="Consolas" panose="020B0609020204030204" pitchFamily="49" charset="0"/>
                <a:cs typeface="Consolas" panose="020B0609020204030204" pitchFamily="49" charset="0"/>
              </a:rPr>
              <a:t>': "The purpose of companies is to bring about the production of commodities, and therefore to secure their own profit, by means of their own production.  The process of production is the process by which commodities become universal </a:t>
            </a:r>
            <a:r>
              <a:rPr lang="en-GB" sz="1200" dirty="0" err="1">
                <a:latin typeface="Consolas" panose="020B0609020204030204" pitchFamily="49" charset="0"/>
                <a:cs typeface="Consolas" panose="020B0609020204030204" pitchFamily="49" charset="0"/>
              </a:rPr>
              <a:t>commodities,and</a:t>
            </a:r>
            <a:r>
              <a:rPr lang="en-GB" sz="1200" dirty="0">
                <a:latin typeface="Consolas" panose="020B0609020204030204" pitchFamily="49" charset="0"/>
                <a:cs typeface="Consolas" panose="020B0609020204030204" pitchFamily="49" charset="0"/>
              </a:rPr>
              <a:t> the process of production is the process by which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becomes universal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and vice versa.  The process is the process of exchange, and so it is with the </a:t>
            </a:r>
            <a:r>
              <a:rPr lang="en-GB" sz="1200" dirty="0" err="1">
                <a:latin typeface="Consolas" panose="020B0609020204030204" pitchFamily="49" charset="0"/>
                <a:cs typeface="Consolas" panose="020B0609020204030204" pitchFamily="49" charset="0"/>
              </a:rPr>
              <a:t>sameprocess</a:t>
            </a:r>
            <a:r>
              <a:rPr lang="en-GB" sz="1200" dirty="0">
                <a:latin typeface="Consolas" panose="020B0609020204030204" pitchFamily="49" charset="0"/>
                <a:cs typeface="Consolas" panose="020B0609020204030204" pitchFamily="49" charset="0"/>
              </a:rPr>
              <a:t> of production.  It is the process by which the exchange value of commodities </a:t>
            </a:r>
            <a:r>
              <a:rPr lang="en-GB" sz="1200" dirty="0" err="1">
                <a:latin typeface="Consolas" panose="020B0609020204030204" pitchFamily="49" charset="0"/>
                <a:cs typeface="Consolas" panose="020B0609020204030204" pitchFamily="49" charset="0"/>
              </a:rPr>
              <a:t>variesaccording</a:t>
            </a:r>
            <a:r>
              <a:rPr lang="en-GB" sz="1200" dirty="0">
                <a:latin typeface="Consolas" panose="020B0609020204030204" pitchFamily="49" charset="0"/>
                <a:cs typeface="Consolas" panose="020B0609020204030204" pitchFamily="49" charset="0"/>
              </a:rPr>
              <a:t> to the exchange value of commodities. The process of exchange is the process of a social process.  The relation </a:t>
            </a:r>
            <a:r>
              <a:rPr lang="en-GB" sz="1200" dirty="0" err="1">
                <a:latin typeface="Consolas" panose="020B0609020204030204" pitchFamily="49" charset="0"/>
                <a:cs typeface="Consolas" panose="020B0609020204030204" pitchFamily="49" charset="0"/>
              </a:rPr>
              <a:t>betweencommodities</a:t>
            </a:r>
            <a:r>
              <a:rPr lang="en-GB" sz="1200" dirty="0">
                <a:latin typeface="Consolas" panose="020B0609020204030204" pitchFamily="49" charset="0"/>
                <a:cs typeface="Consolas" panose="020B0609020204030204" pitchFamily="49" charset="0"/>
              </a:rPr>
              <a:t> to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is a process in which the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of one person is transferred to </a:t>
            </a:r>
            <a:r>
              <a:rPr lang="en-GB" sz="1200" dirty="0" err="1">
                <a:latin typeface="Consolas" panose="020B0609020204030204" pitchFamily="49" charset="0"/>
                <a:cs typeface="Consolas" panose="020B0609020204030204" pitchFamily="49" charset="0"/>
              </a:rPr>
              <a:t>anotherperson</a:t>
            </a:r>
            <a:r>
              <a:rPr lang="en-GB" sz="1200" dirty="0">
                <a:latin typeface="Consolas" panose="020B0609020204030204" pitchFamily="49" charset="0"/>
                <a:cs typeface="Consolas" panose="020B0609020204030204" pitchFamily="49" charset="0"/>
              </a:rPr>
              <a:t>, and the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of another person is transferred to the owner of the other </a:t>
            </a:r>
            <a:r>
              <a:rPr lang="en-GB" sz="1200" dirty="0" err="1">
                <a:latin typeface="Consolas" panose="020B0609020204030204" pitchFamily="49" charset="0"/>
                <a:cs typeface="Consolas" panose="020B0609020204030204" pitchFamily="49" charset="0"/>
              </a:rPr>
              <a:t>person.The</a:t>
            </a:r>
            <a:r>
              <a:rPr lang="en-GB" sz="1200" dirty="0">
                <a:latin typeface="Consolas" panose="020B0609020204030204" pitchFamily="49" charset="0"/>
                <a:cs typeface="Consolas" panose="020B0609020204030204" pitchFamily="49" charset="0"/>
              </a:rPr>
              <a:t> process of exchange does not depend on the quantity of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ofthe</a:t>
            </a:r>
            <a:r>
              <a:rPr lang="en-GB" sz="1200" dirty="0">
                <a:latin typeface="Consolas" panose="020B0609020204030204" pitchFamily="49" charset="0"/>
                <a:cs typeface="Consolas" panose="020B0609020204030204" pitchFamily="49" charset="0"/>
              </a:rPr>
              <a:t> person </a:t>
            </a:r>
            <a:r>
              <a:rPr lang="en-GB" sz="1200" dirty="0" err="1">
                <a:latin typeface="Consolas" panose="020B0609020204030204" pitchFamily="49" charset="0"/>
                <a:cs typeface="Consolas" panose="020B0609020204030204" pitchFamily="49" charset="0"/>
              </a:rPr>
              <a:t>whoproduces</a:t>
            </a:r>
            <a:r>
              <a:rPr lang="en-GB" sz="1200" dirty="0">
                <a:latin typeface="Consolas" panose="020B0609020204030204" pitchFamily="49" charset="0"/>
                <a:cs typeface="Consolas" panose="020B0609020204030204" pitchFamily="49" charset="0"/>
              </a:rPr>
              <a:t> the commodity, but on the quantity of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of the other person, and the latter is the product of the </a:t>
            </a:r>
            <a:r>
              <a:rPr lang="en-GB" sz="1200" dirty="0" err="1">
                <a:latin typeface="Consolas" panose="020B0609020204030204" pitchFamily="49" charset="0"/>
                <a:cs typeface="Consolas" panose="020B0609020204030204" pitchFamily="49" charset="0"/>
              </a:rPr>
              <a:t>latter.As</a:t>
            </a:r>
            <a:r>
              <a:rPr lang="en-GB" sz="1200" dirty="0">
                <a:latin typeface="Consolas" panose="020B0609020204030204" pitchFamily="49" charset="0"/>
                <a:cs typeface="Consolas" panose="020B0609020204030204" pitchFamily="49" charset="0"/>
              </a:rPr>
              <a:t> soon as the quantity of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whichis</a:t>
            </a:r>
            <a:r>
              <a:rPr lang="en-GB" sz="1200" dirty="0">
                <a:latin typeface="Consolas" panose="020B0609020204030204" pitchFamily="49" charset="0"/>
                <a:cs typeface="Consolas" panose="020B0609020204030204" pitchFamily="49" charset="0"/>
              </a:rPr>
              <a:t> being produced by a commodity is increased, the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which is </a:t>
            </a:r>
            <a:r>
              <a:rPr lang="en-GB" sz="1200" dirty="0" err="1">
                <a:latin typeface="Consolas" panose="020B0609020204030204" pitchFamily="49" charset="0"/>
                <a:cs typeface="Consolas" panose="020B0609020204030204" pitchFamily="49" charset="0"/>
              </a:rPr>
              <a:t>beingproduced</a:t>
            </a:r>
            <a:r>
              <a:rPr lang="en-GB" sz="1200" dirty="0">
                <a:latin typeface="Consolas" panose="020B0609020204030204" pitchFamily="49" charset="0"/>
                <a:cs typeface="Consolas" panose="020B0609020204030204" pitchFamily="49" charset="0"/>
              </a:rPr>
              <a:t> by the other person falls to the latter.  There is an increased quantity of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and a corresponding rise in the quantity of the other person's </a:t>
            </a:r>
            <a:r>
              <a:rPr lang="en-GB" sz="1200" dirty="0" err="1">
                <a:latin typeface="Consolas" panose="020B0609020204030204" pitchFamily="49" charset="0"/>
                <a:cs typeface="Consolas" panose="020B0609020204030204" pitchFamily="49" charset="0"/>
              </a:rPr>
              <a:t>labor</a:t>
            </a:r>
            <a:r>
              <a:rPr lang="en-GB" sz="1200" dirty="0">
                <a:latin typeface="Consolas" panose="020B0609020204030204" pitchFamily="49" charset="0"/>
                <a:cs typeface="Consolas" panose="020B0609020204030204" pitchFamily="49" charset="0"/>
              </a:rPr>
              <a:t>.  This rise of the other person in the"},</a:t>
            </a:r>
          </a:p>
          <a:p>
            <a:r>
              <a:rPr lang="en-GB" sz="1200" dirty="0">
                <a:latin typeface="Consolas" panose="020B0609020204030204" pitchFamily="49" charset="0"/>
                <a:cs typeface="Consolas" panose="020B0609020204030204" pitchFamily="49" charset="0"/>
              </a:rPr>
              <a:t> {'</a:t>
            </a:r>
            <a:r>
              <a:rPr lang="en-GB" sz="1200" dirty="0" err="1">
                <a:latin typeface="Consolas" panose="020B0609020204030204" pitchFamily="49" charset="0"/>
                <a:cs typeface="Consolas" panose="020B0609020204030204" pitchFamily="49" charset="0"/>
              </a:rPr>
              <a:t>generated_text</a:t>
            </a:r>
            <a:r>
              <a:rPr lang="en-GB" sz="1200" dirty="0">
                <a:latin typeface="Consolas" panose="020B0609020204030204" pitchFamily="49" charset="0"/>
                <a:cs typeface="Consolas" panose="020B0609020204030204" pitchFamily="49" charset="0"/>
              </a:rPr>
              <a:t>': 'The purpose of companies is to produce, by their means, a product which is in no way a commercial product. But the manufacturer makes use of the fact that a product which is purely a means to an end, is not actually a means to an end, as is shown by </a:t>
            </a:r>
            <a:r>
              <a:rPr lang="en-GB" sz="1200" dirty="0" err="1">
                <a:latin typeface="Consolas" panose="020B0609020204030204" pitchFamily="49" charset="0"/>
                <a:cs typeface="Consolas" panose="020B0609020204030204" pitchFamily="49" charset="0"/>
              </a:rPr>
              <a:t>thefact</a:t>
            </a:r>
            <a:r>
              <a:rPr lang="en-GB" sz="1200" dirty="0">
                <a:latin typeface="Consolas" panose="020B0609020204030204" pitchFamily="49" charset="0"/>
                <a:cs typeface="Consolas" panose="020B0609020204030204" pitchFamily="49" charset="0"/>
              </a:rPr>
              <a:t> that a commodity is produced, but a means to an end only by virtue of its being produced, and that the </a:t>
            </a:r>
            <a:r>
              <a:rPr lang="en-GB" sz="1200" dirty="0" err="1">
                <a:latin typeface="Consolas" panose="020B0609020204030204" pitchFamily="49" charset="0"/>
                <a:cs typeface="Consolas" panose="020B0609020204030204" pitchFamily="49" charset="0"/>
              </a:rPr>
              <a:t>productsof</a:t>
            </a:r>
            <a:r>
              <a:rPr lang="en-GB" sz="1200" dirty="0">
                <a:latin typeface="Consolas" panose="020B0609020204030204" pitchFamily="49" charset="0"/>
                <a:cs typeface="Consolas" panose="020B0609020204030204" pitchFamily="49" charset="0"/>
              </a:rPr>
              <a:t> the latter are not actually commodities. In short, the production of a product by means of its use-values is not as yet a matter of practical reason the aim of the manufacturer, not of his </a:t>
            </a:r>
            <a:r>
              <a:rPr lang="en-GB" sz="1200" dirty="0" err="1">
                <a:latin typeface="Consolas" panose="020B0609020204030204" pitchFamily="49" charset="0"/>
                <a:cs typeface="Consolas" panose="020B0609020204030204" pitchFamily="49" charset="0"/>
              </a:rPr>
              <a:t>owninterest</a:t>
            </a:r>
            <a:r>
              <a:rPr lang="en-GB" sz="1200" dirty="0">
                <a:latin typeface="Consolas" panose="020B0609020204030204" pitchFamily="49" charset="0"/>
                <a:cs typeface="Consolas" panose="020B0609020204030204" pitchFamily="49" charset="0"/>
              </a:rPr>
              <a:t>.                                                                                                                                        '}]</a:t>
            </a:r>
          </a:p>
          <a:p>
            <a:endParaRPr lang="en-FI" sz="1200" dirty="0">
              <a:latin typeface="Consolas" panose="020B0609020204030204" pitchFamily="49" charset="0"/>
              <a:cs typeface="Consolas" panose="020B0609020204030204" pitchFamily="49" charset="0"/>
            </a:endParaRPr>
          </a:p>
        </p:txBody>
      </p:sp>
      <p:sp>
        <p:nvSpPr>
          <p:cNvPr id="3" name="Bent Arrow 2">
            <a:extLst>
              <a:ext uri="{FF2B5EF4-FFF2-40B4-BE49-F238E27FC236}">
                <a16:creationId xmlns:a16="http://schemas.microsoft.com/office/drawing/2014/main" id="{EA8277AC-22AA-3FA9-95A1-ECD7AACD9087}"/>
              </a:ext>
            </a:extLst>
          </p:cNvPr>
          <p:cNvSpPr/>
          <p:nvPr/>
        </p:nvSpPr>
        <p:spPr>
          <a:xfrm flipV="1">
            <a:off x="2014151" y="2683985"/>
            <a:ext cx="2162433" cy="1681025"/>
          </a:xfrm>
          <a:prstGeom prst="bentArrow">
            <a:avLst>
              <a:gd name="adj1" fmla="val 25000"/>
              <a:gd name="adj2" fmla="val 25367"/>
              <a:gd name="adj3" fmla="val 25000"/>
              <a:gd name="adj4" fmla="val 4375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solidFill>
                <a:schemeClr val="tx1"/>
              </a:solidFill>
            </a:endParaRPr>
          </a:p>
        </p:txBody>
      </p:sp>
    </p:spTree>
    <p:extLst>
      <p:ext uri="{BB962C8B-B14F-4D97-AF65-F5344CB8AC3E}">
        <p14:creationId xmlns:p14="http://schemas.microsoft.com/office/powerpoint/2010/main" val="1817979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94A1BA2-0CA8-4C2E-E03C-867A6F28A5D1}"/>
              </a:ext>
            </a:extLst>
          </p:cNvPr>
          <p:cNvSpPr>
            <a:spLocks noGrp="1"/>
          </p:cNvSpPr>
          <p:nvPr>
            <p:ph sz="half" idx="1"/>
          </p:nvPr>
        </p:nvSpPr>
        <p:spPr/>
        <p:txBody>
          <a:bodyPr>
            <a:normAutofit fontScale="55000" lnSpcReduction="20000"/>
          </a:bodyPr>
          <a:lstStyle/>
          <a:p>
            <a:pPr marL="0" indent="0">
              <a:buNone/>
            </a:pPr>
            <a:r>
              <a:rPr lang="en-FI" dirty="0">
                <a:latin typeface="Calibri Light" panose="020F0302020204030204" pitchFamily="34" charset="0"/>
                <a:cs typeface="Calibri Light" panose="020F0302020204030204" pitchFamily="34" charset="0"/>
              </a:rPr>
              <a:t>Trump is really trying to invoke banana unicorns in this speech.  He is trying to say that the French people do not need the French bourgeoisie; that the French bourgeoisie must be restored to its former glory; that the French people have no need of the bourgeoisie if they can only live in peace with the French bourgeoisie.  The most ridiculous of all his claims is that the French bourgeoisie should get rid of its monopoly of the means of production, and that the French bourgeoisie should be forced to restore its monopoly ofthe means of production to its former glory.  "We are theproletariat," he says, "and we, therefore, will not let this be the last word, but the last word is, 'Let us leave the bourgeoisie, and let the proletariat make its own law.'"  "But let us leave the bourgeoisie and let the proletariat make its own law," he says.  "We must be no morein the position of the bourgeoisie than we are in the position of the proletariat, so long as we do not take the bourgeois out of the bourgeois; the proletariat must be no more in the position of the bourgeoisie than we are in the position of the proletariat."  "But let us leave the bourgeoisie and let the proletariat make its own law," he says.  "We must be no longer in the position</a:t>
            </a:r>
          </a:p>
        </p:txBody>
      </p:sp>
      <p:sp>
        <p:nvSpPr>
          <p:cNvPr id="6" name="Content Placeholder 5">
            <a:extLst>
              <a:ext uri="{FF2B5EF4-FFF2-40B4-BE49-F238E27FC236}">
                <a16:creationId xmlns:a16="http://schemas.microsoft.com/office/drawing/2014/main" id="{87E7976E-7A17-4187-A5F8-CE001E6E3675}"/>
              </a:ext>
            </a:extLst>
          </p:cNvPr>
          <p:cNvSpPr>
            <a:spLocks noGrp="1"/>
          </p:cNvSpPr>
          <p:nvPr>
            <p:ph sz="half" idx="2"/>
          </p:nvPr>
        </p:nvSpPr>
        <p:spPr/>
        <p:txBody>
          <a:bodyPr>
            <a:normAutofit fontScale="55000" lnSpcReduction="20000"/>
          </a:bodyPr>
          <a:lstStyle/>
          <a:p>
            <a:pPr marL="0" indent="0">
              <a:buNone/>
            </a:pPr>
            <a:r>
              <a:rPr lang="en-FI" dirty="0">
                <a:latin typeface="Calibri Light" panose="020F0302020204030204" pitchFamily="34" charset="0"/>
                <a:cs typeface="Calibri Light" panose="020F0302020204030204" pitchFamily="34" charset="0"/>
              </a:rPr>
              <a:t>Trump is really trying to invoke banana unicorns in this speech. What about the fact that we've also seen a number of people come and speak at the Republican convention in Cleveland and speak to the Republican convention in Dallas, and they're just going to be doing it with no regard for the people. We're going to have a very, very diverse and diverse society and a very diverse city and a very diverse country.” But is Trump using his platform to try to shift the focus of the convention debate on immigration, or does he just want to focus on other issues? "I think that is something that he should be focused on. I don't think he's trying to shift the focus of the Republican Party right now," said Democratic strategist and top adviser John Podesta. "He's trying to use it to make a statement to the American people about immigration. If he says he wants to use immigration to try to shift the focus of the party on immigration, then I think it's going to be a very big deal." Podesta said Trump also wants to talk about jobs, economic growth, and the need to strengthen border security. However, he acknowledged that Trump is focused on immigration and jobs. "His message is to work with people and talk about the jobs that have been created by the immigrants and</a:t>
            </a:r>
          </a:p>
          <a:p>
            <a:pPr marL="0" indent="0">
              <a:buNone/>
            </a:pPr>
            <a:endParaRPr lang="en-FI" dirty="0">
              <a:latin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5DC52F5B-456F-9D86-DD4D-66756A3F918B}"/>
              </a:ext>
            </a:extLst>
          </p:cNvPr>
          <p:cNvSpPr txBox="1"/>
          <p:nvPr/>
        </p:nvSpPr>
        <p:spPr>
          <a:xfrm>
            <a:off x="838200" y="793102"/>
            <a:ext cx="10293220" cy="523220"/>
          </a:xfrm>
          <a:prstGeom prst="rect">
            <a:avLst/>
          </a:prstGeom>
          <a:noFill/>
        </p:spPr>
        <p:txBody>
          <a:bodyPr wrap="square" rtlCol="0">
            <a:spAutoFit/>
          </a:bodyPr>
          <a:lstStyle/>
          <a:p>
            <a:r>
              <a:rPr lang="en-FI" sz="2800" dirty="0">
                <a:latin typeface="Calibri Light" panose="020F0302020204030204" pitchFamily="34" charset="0"/>
                <a:cs typeface="Calibri Light" panose="020F0302020204030204" pitchFamily="34" charset="0"/>
              </a:rPr>
              <a:t>Trump is really trying to invoke banana unicorns in this speech.</a:t>
            </a:r>
          </a:p>
        </p:txBody>
      </p:sp>
    </p:spTree>
    <p:extLst>
      <p:ext uri="{BB962C8B-B14F-4D97-AF65-F5344CB8AC3E}">
        <p14:creationId xmlns:p14="http://schemas.microsoft.com/office/powerpoint/2010/main" val="2076913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8ae7559-10dc-4288-8e2e-4593e62fe3ee}" enabled="0" method="" siteId="{98ae7559-10dc-4288-8e2e-4593e62fe3ee}" removed="1"/>
</clbl:labelList>
</file>

<file path=docProps/app.xml><?xml version="1.0" encoding="utf-8"?>
<Properties xmlns="http://schemas.openxmlformats.org/officeDocument/2006/extended-properties" xmlns:vt="http://schemas.openxmlformats.org/officeDocument/2006/docPropsVTypes">
  <TotalTime>5163</TotalTime>
  <Words>2581</Words>
  <Application>Microsoft Macintosh PowerPoint</Application>
  <PresentationFormat>Widescreen</PresentationFormat>
  <Paragraphs>146</Paragraphs>
  <Slides>31</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Aptos Display</vt:lpstr>
      <vt:lpstr>Arial</vt:lpstr>
      <vt:lpstr>Calibri</vt:lpstr>
      <vt:lpstr>Calibri Light</vt:lpstr>
      <vt:lpstr>Cavolini</vt:lpstr>
      <vt:lpstr>Consolas</vt:lpstr>
      <vt:lpstr>Modern Love Caps</vt:lpstr>
      <vt:lpstr>Office Theme</vt:lpstr>
      <vt:lpstr>llms and weltanschauung some implications for social science research</vt:lpstr>
      <vt:lpstr>llms and weltanschauung some implications for social science research</vt:lpstr>
      <vt:lpstr>What is Weltanschauung? </vt:lpstr>
      <vt:lpstr>PowerPoint Presentation</vt:lpstr>
      <vt:lpstr>PowerPoint Presentation</vt:lpstr>
      <vt:lpstr>PowerPoint Presentation</vt:lpstr>
      <vt:lpstr>PowerPoint Presentation</vt:lpstr>
      <vt:lpstr>PowerPoint Presentation</vt:lpstr>
      <vt:lpstr>Marxist LLM</vt:lpstr>
      <vt:lpstr>Marxist LLM</vt:lpstr>
      <vt:lpstr>Marxist LLM</vt:lpstr>
      <vt:lpstr>Marxist LLM</vt:lpstr>
      <vt:lpstr>For generative input</vt:lpstr>
      <vt:lpstr>PowerPoint Presentation</vt:lpstr>
      <vt:lpstr>PowerPoint Presentation</vt:lpstr>
      <vt:lpstr>PowerPoint Presentation</vt:lpstr>
      <vt:lpstr>Mask tasks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mask fills</vt:lpstr>
      <vt:lpstr>Code example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Marxist LLM</dc:title>
  <dc:creator>Nelimarkka, Matti</dc:creator>
  <cp:lastModifiedBy>Nelimarkka, Matti</cp:lastModifiedBy>
  <cp:revision>10</cp:revision>
  <dcterms:created xsi:type="dcterms:W3CDTF">2024-06-29T16:21:47Z</dcterms:created>
  <dcterms:modified xsi:type="dcterms:W3CDTF">2026-08-19T09:47:47Z</dcterms:modified>
</cp:coreProperties>
</file>